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R²</c:v>
          </c:tx>
          <c:spPr>
            <a:solidFill>
              <a:srgbClr val="168E92"/>
            </a:solidFill>
          </c:spPr>
          <c:invertIfNegative val="1"/>
          <c:dLbls>
            <c:numFmt formatCode="0.000" sourceLinked="0"/>
            <c:spPr>
              <a:noFill/>
              <a:ln>
                <a:noFill/>
              </a:ln>
              <a:effectLst/>
            </c:spPr>
            <c:txPr>
              <a:bodyPr anchorCtr="1"/>
              <a:lstStyle/>
              <a:p>
                <a:pPr>
                  <a:defRPr sz="1200" b="1">
                    <a:solidFill>
                      <a:srgbClr val="102A43"/>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Linear</c:v>
              </c:pt>
              <c:pt idx="1">
                <c:v>Random forest</c:v>
              </c:pt>
              <c:pt idx="2">
                <c:v>Quadratic</c:v>
              </c:pt>
              <c:pt idx="3">
                <c:v>Quadratic ridge</c:v>
              </c:pt>
            </c:strLit>
          </c:cat>
          <c:val>
            <c:numLit>
              <c:formatCode>0.0</c:formatCode>
              <c:ptCount val="4"/>
              <c:pt idx="0">
                <c:v>0.75800000000000001</c:v>
              </c:pt>
              <c:pt idx="1">
                <c:v>0.76</c:v>
              </c:pt>
              <c:pt idx="2">
                <c:v>0.90100000000000002</c:v>
              </c:pt>
              <c:pt idx="3">
                <c:v>0.90100000000000002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BD3-4E24-802F-C475DC068D55}"/>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EE3"/>
            </a:solidFill>
            <a:prstDash val="solid"/>
          </a:ln>
        </c:spPr>
        <c:txPr>
          <a:bodyPr anchorCtr="1"/>
          <a:lstStyle/>
          <a:p>
            <a:pPr>
              <a:defRPr sz="975">
                <a:solidFill>
                  <a:srgbClr val="102A43"/>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4DEE3"/>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050">
                <a:solidFill>
                  <a:srgbClr val="526777"/>
                </a:solidFill>
                <a:latin typeface="Arial"/>
                <a:ea typeface="Arial"/>
                <a:cs typeface="Arial"/>
              </a:defRPr>
            </a:pPr>
            <a:endParaRPr lang="en-US"/>
          </a:p>
        </c:txPr>
        <c:crossAx val="48650112"/>
        <c:crosses val="autoZero"/>
        <c:crossBetween val="between"/>
        <c:majorUnit val="0.2"/>
      </c:valAx>
      <c:spPr>
        <a:solidFill>
          <a:srgbClr val="F7F8F5"/>
        </a:solidFill>
        <a:ln w="0">
          <a:noFill/>
          <a:prstDash val="solid"/>
        </a:ln>
      </c:spPr>
    </c:plotArea>
    <c:plotVisOnly val="1"/>
    <c:dispBlanksAs val="zero"/>
    <c:showDLblsOverMax val="1"/>
  </c:chart>
  <c:spPr>
    <a:solidFill>
      <a:srgbClr val="F7F8F5"/>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Quadratic ridge</c:v>
          </c:tx>
          <c:spPr>
            <a:ln w="28575">
              <a:solidFill>
                <a:srgbClr val="168E92"/>
              </a:solidFill>
              <a:prstDash val="solid"/>
            </a:ln>
          </c:spPr>
          <c:marker>
            <c:symbol val="circle"/>
            <c:size val="7"/>
            <c:spPr>
              <a:solidFill>
                <a:srgbClr val="168E92"/>
              </a:solidFill>
            </c:spPr>
          </c:marker>
          <c:cat>
            <c:numLit>
              <c:formatCode>General</c:formatCode>
              <c:ptCount val="9"/>
              <c:pt idx="0">
                <c:v>0</c:v>
              </c:pt>
              <c:pt idx="1">
                <c:v>25</c:v>
              </c:pt>
              <c:pt idx="2">
                <c:v>50</c:v>
              </c:pt>
              <c:pt idx="3">
                <c:v>75</c:v>
              </c:pt>
              <c:pt idx="4">
                <c:v>100</c:v>
              </c:pt>
              <c:pt idx="5">
                <c:v>125</c:v>
              </c:pt>
              <c:pt idx="6">
                <c:v>150</c:v>
              </c:pt>
              <c:pt idx="7">
                <c:v>175</c:v>
              </c:pt>
              <c:pt idx="8">
                <c:v>200</c:v>
              </c:pt>
            </c:numLit>
          </c:cat>
          <c:val>
            <c:numLit>
              <c:formatCode>0.00</c:formatCode>
              <c:ptCount val="9"/>
              <c:pt idx="0">
                <c:v>-0.19400000000000001</c:v>
              </c:pt>
              <c:pt idx="1">
                <c:v>0.64600000000000002</c:v>
              </c:pt>
              <c:pt idx="2">
                <c:v>1.7999999999999999E-2</c:v>
              </c:pt>
              <c:pt idx="3">
                <c:v>0.63700000000000001</c:v>
              </c:pt>
              <c:pt idx="4">
                <c:v>0.94199999999999995</c:v>
              </c:pt>
              <c:pt idx="5">
                <c:v>0.77400000000000002</c:v>
              </c:pt>
              <c:pt idx="6">
                <c:v>0.77400000000000002</c:v>
              </c:pt>
              <c:pt idx="7">
                <c:v>0.93200000000000005</c:v>
              </c:pt>
              <c:pt idx="8">
                <c:v>0.89900000000000002</c:v>
              </c:pt>
            </c:numLit>
          </c:val>
          <c:smooth val="0"/>
          <c:extLst>
            <c:ext xmlns:c16="http://schemas.microsoft.com/office/drawing/2014/chart" uri="{C3380CC4-5D6E-409C-BE32-E72D297353CC}">
              <c16:uniqueId val="{00000000-F727-4B22-930B-1E3A07642B17}"/>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EE3"/>
            </a:solidFill>
            <a:prstDash val="solid"/>
          </a:ln>
        </c:spPr>
        <c:txPr>
          <a:bodyPr anchorCtr="1"/>
          <a:lstStyle/>
          <a:p>
            <a:pPr>
              <a:defRPr sz="975">
                <a:solidFill>
                  <a:srgbClr val="102A43"/>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
          <c:min val="-0.25"/>
        </c:scaling>
        <c:delete val="0"/>
        <c:axPos val="l"/>
        <c:majorGridlines>
          <c:spPr>
            <a:ln w="9525">
              <a:solidFill>
                <a:srgbClr val="D4DEE3"/>
              </a:solidFill>
              <a:prstDash val="solid"/>
            </a:ln>
          </c:spPr>
        </c:majorGridlines>
        <c:numFmt formatCode="0.00" sourceLinked="1"/>
        <c:majorTickMark val="none"/>
        <c:minorTickMark val="none"/>
        <c:tickLblPos val="nextTo"/>
        <c:spPr>
          <a:ln w="9525">
            <a:solidFill>
              <a:srgbClr val="D4D4D4"/>
            </a:solidFill>
            <a:prstDash val="solid"/>
          </a:ln>
        </c:spPr>
        <c:txPr>
          <a:bodyPr anchorCtr="1"/>
          <a:lstStyle/>
          <a:p>
            <a:pPr>
              <a:defRPr sz="975">
                <a:solidFill>
                  <a:srgbClr val="526777"/>
                </a:solidFill>
                <a:latin typeface="Arial"/>
                <a:ea typeface="Arial"/>
                <a:cs typeface="Arial"/>
              </a:defRPr>
            </a:pPr>
            <a:endParaRPr lang="en-US"/>
          </a:p>
        </c:txPr>
        <c:crossAx val="48650112"/>
        <c:crosses val="autoZero"/>
        <c:crossBetween val="between"/>
        <c:majorUnit val="0.25"/>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proposal based on the EPFL soft-actuator force-characterization dataset. Source: Joshi and Paik, IEEE Robotics and Automation Letters (2019), DOI: 10.1109/LRA.2019.2927936; dataset DOI: 10.5281/zenodo.3627901.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paper describes a soft bending actuator with a fabric layer that prevents extension on one side when pressurized. The pulling-force tests constrain its two ends and impose linear displacement. Source: Joshi and Paik, 2019, DOI: 10.1109/LRA.2019.2927936.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Zenodo describes three raw-data archives and MATLAB plotting scripts. We use the pulling-force subset. The paper reports nine pressure levels from 0 to 200 kPa in 25 kPa steps; each level has three repetitions, with some conditions having a fourth. After aligning sensor samples to the supplied position trajectory over their shared time range, 37,073 rows remain. Sources: https://zenodo.org/records/3627901 and Joshi and Paik, DOI: 10.1109/LRA.2019.2927936.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raw recording matrices have eight columns and no headers. The final column is measured pressure; the first is a sample time/index. The six middle channels correspond to the three biaxial load-cell modules described in the paper. The authors define pulling force as the mean horizontal force from modules 1 and 3 with sign conventions; because the archive omits their plotting/calibration helper, this project reports the sign-corrected sensor signal in counts, not newtons. Position is aligned by interpolation over the shared time window and normalized to the trajectory maximum. Sources: Zenodo DOI 10.5281/zenodo.3627901; Joshi and Paik, DOI 10.1109/LRA.2019.2927936.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final evaluation uses LeaveOneGroupOut with pressure setpoint as the group: all trials at a setting are withheld together; each of the nine settings is held out once. This prevents the model from seeing other trials at the same pressure setting in that fold. It tests interpolation between measured levels in this one actuator setup, not device or material transfer. The protocol's nine setpoints are from Joshi and Paik, DOI: 10.1109/LRA.2019.2927936.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Leave-one-pressure-level-out pooled results over all 37,073 rows: linear regression R² 0.757725, MAE 205.366 counts, RMSE 263.081 counts; quadratic regression R² 0.900513, MAE 135.512 counts, RMSE 168.585 counts; random forest R² 0.760219, MAE 211.756 counts, RMSE 261.724 counts; quadratic ridge R² 0.900547, MAE 135.495 counts, RMSE 168.556 counts. Quadratic ridge has the lowest RMSE, but the difference from unregularized quadratic regression is negligible (0.029 counts). Selected model saved after fitting all prepared rows. Target remains uncalibrated load-cell counts. Dataset source: https://zenodo.org/records/3627901.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Per-pressure R² values for the selected Quadratic Ridge model, in kPa order 0,25,50,75,100,125,150,175,200: -0.194, 0.646, 0.018, 0.637, 0.942, 0.774, 0.774, 0.932, 0.899. The pooled score masks difficult folds at 0 and 50 kPa. Quadratic Ridge and unregularized quadratic regression differ by only 0.029 counts in pooled RMSE, so the winner should not be interpreted as a meaningful advantage. Source: project leave-one-pressure-level-out analysis of the Zenodo pulling-force subset.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two steps are needed before quoting force in newtons or presenting the model as a calibrated physical predictor. A physical validation trial would strengthen the ML project. Inverse design is a future extension, not a result of the current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source citations: Joshi, S. D. and Paik, J., ‘Multi-DoF Force Characterization of Soft Actuators,’ IEEE Robotics and Automation Letters, vol. 4, no. 4, pp. 3679–3686, 2019, DOI 10.1109/LRA.2019.2927936. Dataset: https://zenodo.org/records/3627901, DOI 10.5281/zenodo.3627901. Model metrics are computed with the project analysis script from the pulling-force subset.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446A688-C2AB-4E4B-8C70-BA5F47A290F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CF567582-75E3-4658-9ADB-47E3ECFE138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2BF2452-5057-40F8-9401-17BDF62916C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711E06A-3979-4E6A-AC0C-EAB25D20DEE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15F0AEBD-8260-4F00-A7C4-931DD07608E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4E80B0E-2D97-49C4-BDEB-915501B81D5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291DE0F-B733-4F15-BD6E-6D3093BE73D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DED98DB-EE54-4F27-A0DE-6CA10BFB4D6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AC56FA9-FA5E-49C7-ADE7-FB2C84E0BEB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C9B6FA5-A286-4F41-A1BB-EE28169FCE4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16" name="cover-accent">
            <a:extLst>
              <a:ext uri="{FF2B5EF4-FFF2-40B4-BE49-F238E27FC236}">
                <a16:creationId xmlns:a16="http://schemas.microsoft.com/office/drawing/2014/main" id="{0BE2A6BE-5244-4CF8-B2BC-3F0C7FED3271}"/>
              </a:ext>
            </a:extLst>
          </p:cNvPr>
          <p:cNvSpPr>
            <a:spLocks noGrp="1"/>
          </p:cNvSpPr>
          <p:nvPr/>
        </p:nvSpPr>
        <p:spPr>
          <a:xfrm>
            <a:off x="723900" y="1123950"/>
            <a:ext cx="95250" cy="1428750"/>
          </a:xfrm>
          <a:prstGeom prst="rect">
            <a:avLst/>
          </a:prstGeom>
          <a:solidFill>
            <a:srgbClr val="EF8354"/>
          </a:solidFill>
          <a:ln w="0">
            <a:noFill/>
            <a:prstDash val="solid"/>
          </a:ln>
        </p:spPr>
      </p:sp>
      <p:sp>
        <p:nvSpPr>
          <p:cNvPr id="2" name="cover-title">
            <a:extLst>
              <a:ext uri="{FF2B5EF4-FFF2-40B4-BE49-F238E27FC236}">
                <a16:creationId xmlns:a16="http://schemas.microsoft.com/office/drawing/2014/main" id="{206D68FF-D2F6-4D96-AE79-89E59C42BD3F}"/>
              </a:ext>
            </a:extLst>
          </p:cNvPr>
          <p:cNvSpPr>
            <a:spLocks noGrp="1"/>
          </p:cNvSpPr>
          <p:nvPr/>
        </p:nvSpPr>
        <p:spPr>
          <a:xfrm>
            <a:off x="1104900" y="1047750"/>
            <a:ext cx="6191250" cy="2095500"/>
          </a:xfrm>
          <a:prstGeom prst="rect">
            <a:avLst/>
          </a:prstGeom>
          <a:noFill/>
          <a:ln w="0">
            <a:noFill/>
            <a:prstDash val="solid"/>
          </a:ln>
        </p:spPr>
        <p:txBody>
          <a:bodyPr wrap="square" lIns="0" tIns="0" rIns="0" bIns="0" anchor="t">
            <a:normAutofit/>
          </a:bodyPr>
          <a:lstStyle>
            <a:defPPr algn="l">
              <a:defRPr sz="4050" b="1">
                <a:solidFill>
                  <a:srgbClr val="FFFFFF"/>
                </a:solidFill>
                <a:latin typeface="Arial"/>
                <a:ea typeface="Arial"/>
                <a:cs typeface="Arial"/>
              </a:defRPr>
            </a:defPPr>
          </a:lstStyle>
          <a:p>
            <a:pPr algn="l">
              <a:lnSpc>
                <a:spcPct val="98000"/>
              </a:lnSpc>
              <a:buNone/>
              <a:defRPr sz="4050" b="1">
                <a:solidFill>
                  <a:srgbClr val="FFFFFF"/>
                </a:solidFill>
                <a:latin typeface="Arial"/>
                <a:ea typeface="Arial"/>
                <a:cs typeface="Arial"/>
              </a:defRPr>
            </a:pPr>
            <a:r>
              <a:rPr sz="4050" b="1">
                <a:solidFill>
                  <a:srgbClr val="FFFFFF"/>
                </a:solidFill>
                <a:latin typeface="Arial"/>
                <a:ea typeface="Arial"/>
                <a:cs typeface="Arial"/>
              </a:rPr>
              <a:t>Learning the pulling response of a soft actuator</a:t>
            </a:r>
          </a:p>
        </p:txBody>
      </p:sp>
      <p:sp>
        <p:nvSpPr>
          <p:cNvPr id="3" name="cover-subtitle">
            <a:extLst>
              <a:ext uri="{FF2B5EF4-FFF2-40B4-BE49-F238E27FC236}">
                <a16:creationId xmlns:a16="http://schemas.microsoft.com/office/drawing/2014/main" id="{E90684A0-61D8-41AD-B614-FF97F1FB9261}"/>
              </a:ext>
            </a:extLst>
          </p:cNvPr>
          <p:cNvSpPr>
            <a:spLocks noGrp="1"/>
          </p:cNvSpPr>
          <p:nvPr/>
        </p:nvSpPr>
        <p:spPr>
          <a:xfrm>
            <a:off x="1143000" y="3429000"/>
            <a:ext cx="5810250" cy="952500"/>
          </a:xfrm>
          <a:prstGeom prst="rect">
            <a:avLst/>
          </a:prstGeom>
          <a:noFill/>
          <a:ln w="0">
            <a:noFill/>
            <a:prstDash val="solid"/>
          </a:ln>
        </p:spPr>
        <p:txBody>
          <a:bodyPr wrap="square" lIns="0" tIns="0" rIns="0" bIns="0" anchor="t">
            <a:normAutofit/>
          </a:bodyPr>
          <a:lstStyle>
            <a:defPPr algn="l">
              <a:defRPr sz="1875" b="0">
                <a:solidFill>
                  <a:srgbClr val="D5E2EA"/>
                </a:solidFill>
                <a:latin typeface="Arial"/>
                <a:ea typeface="Arial"/>
                <a:cs typeface="Arial"/>
              </a:defRPr>
            </a:defPPr>
          </a:lstStyle>
          <a:p>
            <a:pPr algn="l">
              <a:lnSpc>
                <a:spcPct val="105000"/>
              </a:lnSpc>
              <a:buNone/>
              <a:defRPr sz="1875" b="0">
                <a:solidFill>
                  <a:srgbClr val="D5E2EA"/>
                </a:solidFill>
                <a:latin typeface="Arial"/>
                <a:ea typeface="Arial"/>
                <a:cs typeface="Arial"/>
              </a:defRPr>
            </a:pPr>
            <a:r>
              <a:rPr sz="1875" b="0">
                <a:solidFill>
                  <a:srgbClr val="D5E2EA"/>
                </a:solidFill>
                <a:latin typeface="Arial"/>
                <a:ea typeface="Arial"/>
                <a:cs typeface="Arial"/>
              </a:rPr>
              <a:t>A machine-learning study of pressure, displacement, and compliant materials</a:t>
            </a:r>
          </a:p>
        </p:txBody>
      </p:sp>
      <p:sp>
        <p:nvSpPr>
          <p:cNvPr id="4" name="cover-course">
            <a:extLst>
              <a:ext uri="{FF2B5EF4-FFF2-40B4-BE49-F238E27FC236}">
                <a16:creationId xmlns:a16="http://schemas.microsoft.com/office/drawing/2014/main" id="{C6FE773A-213A-4D5D-8B82-0232748C9C40}"/>
              </a:ext>
            </a:extLst>
          </p:cNvPr>
          <p:cNvSpPr>
            <a:spLocks noGrp="1"/>
          </p:cNvSpPr>
          <p:nvPr/>
        </p:nvSpPr>
        <p:spPr>
          <a:xfrm>
            <a:off x="1143000" y="5695950"/>
            <a:ext cx="5715000" cy="304800"/>
          </a:xfrm>
          <a:prstGeom prst="rect">
            <a:avLst/>
          </a:prstGeom>
          <a:noFill/>
          <a:ln w="0">
            <a:noFill/>
            <a:prstDash val="solid"/>
          </a:ln>
        </p:spPr>
        <p:txBody>
          <a:bodyPr wrap="square" lIns="0" tIns="0" rIns="0" bIns="0" anchor="t">
            <a:normAutofit/>
          </a:bodyPr>
          <a:lstStyle>
            <a:defPPr algn="l">
              <a:defRPr sz="1200" b="1">
                <a:solidFill>
                  <a:srgbClr val="88D6D0"/>
                </a:solidFill>
                <a:latin typeface="Arial"/>
                <a:ea typeface="Arial"/>
                <a:cs typeface="Arial"/>
              </a:defRPr>
            </a:defPPr>
          </a:lstStyle>
          <a:p>
            <a:pPr>
              <a:lnSpc>
                <a:spcPct val="105000"/>
              </a:lnSpc>
              <a:defRPr sz="1200" b="1">
                <a:solidFill>
                  <a:srgbClr val="88D6D0"/>
                </a:solidFill>
                <a:latin typeface="Arial"/>
                <a:ea typeface="Arial"/>
                <a:cs typeface="Arial"/>
              </a:defRPr>
            </a:pPr>
            <a:r>
              <a:rPr sz="1200" b="1" dirty="0">
                <a:solidFill>
                  <a:srgbClr val="88D6D0"/>
                </a:solidFill>
                <a:latin typeface="Arial"/>
                <a:ea typeface="Arial"/>
                <a:cs typeface="Arial"/>
              </a:rPr>
              <a:t>SOFT ROBOTICS  ·  MACHINE LEARNING</a:t>
            </a:r>
            <a:r>
              <a:rPr lang="en-IN" sz="1200" b="1" dirty="0">
                <a:solidFill>
                  <a:srgbClr val="88D6D0"/>
                </a:solidFill>
                <a:latin typeface="Arial"/>
                <a:ea typeface="Arial"/>
                <a:cs typeface="Arial"/>
              </a:rPr>
              <a:t>  ·  HAREHARAN B T  </a:t>
            </a:r>
            <a:endParaRPr sz="1200" b="1" dirty="0">
              <a:solidFill>
                <a:srgbClr val="88D6D0"/>
              </a:solidFill>
              <a:latin typeface="Arial"/>
              <a:ea typeface="Arial"/>
              <a:cs typeface="Arial"/>
            </a:endParaRPr>
          </a:p>
        </p:txBody>
      </p:sp>
      <p:sp>
        <p:nvSpPr>
          <p:cNvPr id="5" name="cover-body">
            <a:extLst>
              <a:ext uri="{FF2B5EF4-FFF2-40B4-BE49-F238E27FC236}">
                <a16:creationId xmlns:a16="http://schemas.microsoft.com/office/drawing/2014/main" id="{67857718-7EF2-4FB7-8039-2FA97A32EDF8}"/>
              </a:ext>
            </a:extLst>
          </p:cNvPr>
          <p:cNvSpPr>
            <a:spLocks noGrp="1"/>
          </p:cNvSpPr>
          <p:nvPr/>
        </p:nvSpPr>
        <p:spPr>
          <a:xfrm>
            <a:off x="8267700" y="2686050"/>
            <a:ext cx="2381250" cy="1257300"/>
          </a:xfrm>
          <a:prstGeom prst="roundRect">
            <a:avLst>
              <a:gd name="adj" fmla="val 6061"/>
            </a:avLst>
          </a:prstGeom>
          <a:solidFill>
            <a:srgbClr val="168E92"/>
          </a:solidFill>
          <a:ln w="19050">
            <a:solidFill>
              <a:srgbClr val="69C5BE"/>
            </a:solidFill>
            <a:prstDash val="solid"/>
          </a:ln>
        </p:spPr>
      </p:sp>
      <p:sp>
        <p:nvSpPr>
          <p:cNvPr id="6" name="cover-chamber-0">
            <a:extLst>
              <a:ext uri="{FF2B5EF4-FFF2-40B4-BE49-F238E27FC236}">
                <a16:creationId xmlns:a16="http://schemas.microsoft.com/office/drawing/2014/main" id="{46E7DF1E-4687-4523-944E-B9A144A50DDE}"/>
              </a:ext>
            </a:extLst>
          </p:cNvPr>
          <p:cNvSpPr>
            <a:spLocks noGrp="1"/>
          </p:cNvSpPr>
          <p:nvPr/>
        </p:nvSpPr>
        <p:spPr>
          <a:xfrm>
            <a:off x="8477250" y="2857500"/>
            <a:ext cx="323850" cy="914400"/>
          </a:xfrm>
          <a:prstGeom prst="roundRect">
            <a:avLst>
              <a:gd name="adj" fmla="val 23529"/>
            </a:avLst>
          </a:prstGeom>
          <a:solidFill>
            <a:srgbClr val="75CBC1"/>
          </a:solidFill>
          <a:ln w="0">
            <a:noFill/>
            <a:prstDash val="solid"/>
          </a:ln>
        </p:spPr>
      </p:sp>
      <p:sp>
        <p:nvSpPr>
          <p:cNvPr id="7" name="cover-chamber-1">
            <a:extLst>
              <a:ext uri="{FF2B5EF4-FFF2-40B4-BE49-F238E27FC236}">
                <a16:creationId xmlns:a16="http://schemas.microsoft.com/office/drawing/2014/main" id="{205A09D8-677E-428E-B412-A9E54DBF1634}"/>
              </a:ext>
            </a:extLst>
          </p:cNvPr>
          <p:cNvSpPr>
            <a:spLocks noGrp="1"/>
          </p:cNvSpPr>
          <p:nvPr/>
        </p:nvSpPr>
        <p:spPr>
          <a:xfrm>
            <a:off x="8972550" y="2857500"/>
            <a:ext cx="323850" cy="914400"/>
          </a:xfrm>
          <a:prstGeom prst="roundRect">
            <a:avLst>
              <a:gd name="adj" fmla="val 23529"/>
            </a:avLst>
          </a:prstGeom>
          <a:solidFill>
            <a:srgbClr val="75CBC1"/>
          </a:solidFill>
          <a:ln w="0">
            <a:noFill/>
            <a:prstDash val="solid"/>
          </a:ln>
        </p:spPr>
      </p:sp>
      <p:sp>
        <p:nvSpPr>
          <p:cNvPr id="8" name="cover-chamber-2">
            <a:extLst>
              <a:ext uri="{FF2B5EF4-FFF2-40B4-BE49-F238E27FC236}">
                <a16:creationId xmlns:a16="http://schemas.microsoft.com/office/drawing/2014/main" id="{F2DF912D-623A-40D8-A1DE-C3B7C04FD43C}"/>
              </a:ext>
            </a:extLst>
          </p:cNvPr>
          <p:cNvSpPr>
            <a:spLocks noGrp="1"/>
          </p:cNvSpPr>
          <p:nvPr/>
        </p:nvSpPr>
        <p:spPr>
          <a:xfrm>
            <a:off x="9467850" y="2857500"/>
            <a:ext cx="323850" cy="914400"/>
          </a:xfrm>
          <a:prstGeom prst="roundRect">
            <a:avLst>
              <a:gd name="adj" fmla="val 23529"/>
            </a:avLst>
          </a:prstGeom>
          <a:solidFill>
            <a:srgbClr val="75CBC1"/>
          </a:solidFill>
          <a:ln w="0">
            <a:noFill/>
            <a:prstDash val="solid"/>
          </a:ln>
        </p:spPr>
      </p:sp>
      <p:sp>
        <p:nvSpPr>
          <p:cNvPr id="9" name="cover-chamber-3">
            <a:extLst>
              <a:ext uri="{FF2B5EF4-FFF2-40B4-BE49-F238E27FC236}">
                <a16:creationId xmlns:a16="http://schemas.microsoft.com/office/drawing/2014/main" id="{122A3493-E0E4-4CFB-AB71-3894CF0AEB03}"/>
              </a:ext>
            </a:extLst>
          </p:cNvPr>
          <p:cNvSpPr>
            <a:spLocks noGrp="1"/>
          </p:cNvSpPr>
          <p:nvPr/>
        </p:nvSpPr>
        <p:spPr>
          <a:xfrm>
            <a:off x="9963150" y="2857500"/>
            <a:ext cx="323850" cy="914400"/>
          </a:xfrm>
          <a:prstGeom prst="roundRect">
            <a:avLst>
              <a:gd name="adj" fmla="val 23529"/>
            </a:avLst>
          </a:prstGeom>
          <a:solidFill>
            <a:srgbClr val="75CBC1"/>
          </a:solidFill>
          <a:ln w="0">
            <a:noFill/>
            <a:prstDash val="solid"/>
          </a:ln>
        </p:spPr>
      </p:sp>
      <p:sp>
        <p:nvSpPr>
          <p:cNvPr id="10" name="cover-fabric-constraint">
            <a:extLst>
              <a:ext uri="{FF2B5EF4-FFF2-40B4-BE49-F238E27FC236}">
                <a16:creationId xmlns:a16="http://schemas.microsoft.com/office/drawing/2014/main" id="{22C5FA07-9328-4408-9D3E-F7A6E9CFE07F}"/>
              </a:ext>
            </a:extLst>
          </p:cNvPr>
          <p:cNvSpPr>
            <a:spLocks noGrp="1"/>
          </p:cNvSpPr>
          <p:nvPr/>
        </p:nvSpPr>
        <p:spPr>
          <a:xfrm>
            <a:off x="8267700" y="4048125"/>
            <a:ext cx="2381250" cy="114300"/>
          </a:xfrm>
          <a:prstGeom prst="rect">
            <a:avLst/>
          </a:prstGeom>
          <a:solidFill>
            <a:srgbClr val="EF8354"/>
          </a:solidFill>
          <a:ln w="0">
            <a:noFill/>
            <a:prstDash val="solid"/>
          </a:ln>
        </p:spPr>
      </p:sp>
      <p:sp>
        <p:nvSpPr>
          <p:cNvPr id="11" name="cover-pressure-hose">
            <a:extLst>
              <a:ext uri="{FF2B5EF4-FFF2-40B4-BE49-F238E27FC236}">
                <a16:creationId xmlns:a16="http://schemas.microsoft.com/office/drawing/2014/main" id="{7D13DF75-7DD7-448D-AB41-3E9E86F754BB}"/>
              </a:ext>
            </a:extLst>
          </p:cNvPr>
          <p:cNvSpPr>
            <a:spLocks noGrp="1"/>
          </p:cNvSpPr>
          <p:nvPr/>
        </p:nvSpPr>
        <p:spPr>
          <a:xfrm>
            <a:off x="7334250" y="3295650"/>
            <a:ext cx="876300" cy="0"/>
          </a:xfrm>
          <a:prstGeom prst="line">
            <a:avLst/>
          </a:prstGeom>
          <a:noFill/>
          <a:ln w="47625">
            <a:solidFill>
              <a:srgbClr val="E6B85C"/>
            </a:solidFill>
            <a:prstDash val="solid"/>
          </a:ln>
        </p:spPr>
      </p:sp>
      <p:sp>
        <p:nvSpPr>
          <p:cNvPr id="12" name="cover-pressure-node">
            <a:extLst>
              <a:ext uri="{FF2B5EF4-FFF2-40B4-BE49-F238E27FC236}">
                <a16:creationId xmlns:a16="http://schemas.microsoft.com/office/drawing/2014/main" id="{776772B6-57C4-4596-8747-D66B210F314D}"/>
              </a:ext>
            </a:extLst>
          </p:cNvPr>
          <p:cNvSpPr>
            <a:spLocks noGrp="1"/>
          </p:cNvSpPr>
          <p:nvPr/>
        </p:nvSpPr>
        <p:spPr>
          <a:xfrm>
            <a:off x="7105650" y="3124200"/>
            <a:ext cx="285750" cy="342900"/>
          </a:xfrm>
          <a:prstGeom prst="ellipse">
            <a:avLst/>
          </a:prstGeom>
          <a:solidFill>
            <a:srgbClr val="E6B85C"/>
          </a:solidFill>
          <a:ln w="0">
            <a:noFill/>
            <a:prstDash val="solid"/>
          </a:ln>
        </p:spPr>
      </p:sp>
      <p:sp>
        <p:nvSpPr>
          <p:cNvPr id="13" name="cover-pressure-label">
            <a:extLst>
              <a:ext uri="{FF2B5EF4-FFF2-40B4-BE49-F238E27FC236}">
                <a16:creationId xmlns:a16="http://schemas.microsoft.com/office/drawing/2014/main" id="{F73A26E0-26AC-4242-98BF-7EB6F76BD8F3}"/>
              </a:ext>
            </a:extLst>
          </p:cNvPr>
          <p:cNvSpPr>
            <a:spLocks noGrp="1"/>
          </p:cNvSpPr>
          <p:nvPr/>
        </p:nvSpPr>
        <p:spPr>
          <a:xfrm>
            <a:off x="7115175" y="3162300"/>
            <a:ext cx="266700" cy="247650"/>
          </a:xfrm>
          <a:prstGeom prst="rect">
            <a:avLst/>
          </a:prstGeom>
          <a:noFill/>
          <a:ln w="0">
            <a:noFill/>
            <a:prstDash val="solid"/>
          </a:ln>
        </p:spPr>
        <p:txBody>
          <a:bodyPr wrap="square" lIns="0" tIns="0" rIns="0" bIns="0" anchor="t">
            <a:normAutofit/>
          </a:bodyPr>
          <a:lstStyle>
            <a:defPPr algn="ctr">
              <a:defRPr sz="1350" b="1">
                <a:solidFill>
                  <a:srgbClr val="102A43"/>
                </a:solidFill>
                <a:latin typeface="Arial"/>
                <a:ea typeface="Arial"/>
                <a:cs typeface="Arial"/>
              </a:defRPr>
            </a:defPPr>
          </a:lstStyle>
          <a:p>
            <a:pPr algn="ctr">
              <a:lnSpc>
                <a:spcPct val="105000"/>
              </a:lnSpc>
              <a:buNone/>
              <a:defRPr sz="1350" b="1">
                <a:solidFill>
                  <a:srgbClr val="102A43"/>
                </a:solidFill>
                <a:latin typeface="Arial"/>
                <a:ea typeface="Arial"/>
                <a:cs typeface="Arial"/>
              </a:defRPr>
            </a:pPr>
            <a:r>
              <a:rPr sz="1350" b="1">
                <a:solidFill>
                  <a:srgbClr val="102A43"/>
                </a:solidFill>
                <a:latin typeface="Arial"/>
                <a:ea typeface="Arial"/>
                <a:cs typeface="Arial"/>
              </a:rPr>
              <a:t>P</a:t>
            </a:r>
          </a:p>
        </p:txBody>
      </p:sp>
      <p:sp>
        <p:nvSpPr>
          <p:cNvPr id="14" name="cover-force-arrow">
            <a:extLst>
              <a:ext uri="{FF2B5EF4-FFF2-40B4-BE49-F238E27FC236}">
                <a16:creationId xmlns:a16="http://schemas.microsoft.com/office/drawing/2014/main" id="{C8E1158F-6E47-49DA-B879-EE4C1F72802F}"/>
              </a:ext>
            </a:extLst>
          </p:cNvPr>
          <p:cNvSpPr>
            <a:spLocks noGrp="1"/>
          </p:cNvSpPr>
          <p:nvPr/>
        </p:nvSpPr>
        <p:spPr>
          <a:xfrm>
            <a:off x="10763250" y="3190875"/>
            <a:ext cx="742950" cy="0"/>
          </a:xfrm>
          <a:prstGeom prst="line">
            <a:avLst/>
          </a:prstGeom>
          <a:noFill/>
          <a:ln w="28575">
            <a:solidFill>
              <a:srgbClr val="FFFFFF"/>
            </a:solidFill>
            <a:prstDash val="solid"/>
          </a:ln>
        </p:spPr>
      </p:sp>
      <p:sp>
        <p:nvSpPr>
          <p:cNvPr id="15" name="cover-force-label">
            <a:extLst>
              <a:ext uri="{FF2B5EF4-FFF2-40B4-BE49-F238E27FC236}">
                <a16:creationId xmlns:a16="http://schemas.microsoft.com/office/drawing/2014/main" id="{9DBF143B-B4D3-4EB5-A24A-ACF5B947B5AD}"/>
              </a:ext>
            </a:extLst>
          </p:cNvPr>
          <p:cNvSpPr>
            <a:spLocks noGrp="1"/>
          </p:cNvSpPr>
          <p:nvPr/>
        </p:nvSpPr>
        <p:spPr>
          <a:xfrm>
            <a:off x="10668000" y="3476625"/>
            <a:ext cx="1200150" cy="552450"/>
          </a:xfrm>
          <a:prstGeom prst="rect">
            <a:avLst/>
          </a:prstGeom>
          <a:noFill/>
          <a:ln w="0">
            <a:noFill/>
            <a:prstDash val="solid"/>
          </a:ln>
        </p:spPr>
        <p:txBody>
          <a:bodyPr wrap="square" lIns="0" tIns="0" rIns="0" bIns="0" anchor="t">
            <a:normAutofit/>
          </a:bodyPr>
          <a:lstStyle>
            <a:defPPr algn="ctr">
              <a:defRPr sz="1275" b="0">
                <a:solidFill>
                  <a:srgbClr val="FFFFFF"/>
                </a:solidFill>
                <a:latin typeface="Arial"/>
                <a:ea typeface="Arial"/>
                <a:cs typeface="Arial"/>
              </a:defRPr>
            </a:defPPr>
          </a:lstStyle>
          <a:p>
            <a:pPr algn="ctr">
              <a:lnSpc>
                <a:spcPct val="105000"/>
              </a:lnSpc>
              <a:buNone/>
              <a:defRPr sz="1275" b="0">
                <a:solidFill>
                  <a:srgbClr val="FFFFFF"/>
                </a:solidFill>
                <a:latin typeface="Arial"/>
                <a:ea typeface="Arial"/>
                <a:cs typeface="Arial"/>
              </a:defRPr>
            </a:pPr>
            <a:r>
              <a:rPr sz="1275" b="0">
                <a:solidFill>
                  <a:srgbClr val="FFFFFF"/>
                </a:solidFill>
                <a:latin typeface="Arial"/>
                <a:ea typeface="Arial"/>
                <a:cs typeface="Arial"/>
              </a:rPr>
              <a:t>pulling</a:t>
            </a:r>
          </a:p>
          <a:p>
            <a:pPr algn="ctr">
              <a:lnSpc>
                <a:spcPct val="105000"/>
              </a:lnSpc>
              <a:buNone/>
              <a:defRPr sz="1275" b="0">
                <a:solidFill>
                  <a:srgbClr val="FFFFFF"/>
                </a:solidFill>
                <a:latin typeface="Arial"/>
                <a:ea typeface="Arial"/>
                <a:cs typeface="Arial"/>
              </a:defRPr>
            </a:pPr>
            <a:r>
              <a:rPr sz="1275" b="0">
                <a:solidFill>
                  <a:srgbClr val="FFFFFF"/>
                </a:solidFill>
                <a:latin typeface="Arial"/>
                <a:ea typeface="Arial"/>
                <a:cs typeface="Arial"/>
              </a:rPr>
              <a:t>response</a:t>
            </a:r>
          </a:p>
        </p:txBody>
      </p:sp>
    </p:spTree>
    <p:extLst>
      <p:ext uri="{BB962C8B-B14F-4D97-AF65-F5344CB8AC3E}">
        <p14:creationId xmlns:p14="http://schemas.microsoft.com/office/powerpoint/2010/main" val="1533400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1" name="slide-title">
            <a:extLst>
              <a:ext uri="{FF2B5EF4-FFF2-40B4-BE49-F238E27FC236}">
                <a16:creationId xmlns:a16="http://schemas.microsoft.com/office/drawing/2014/main" id="{34279C49-BE56-492B-826B-B48D30869D4E}"/>
              </a:ext>
            </a:extLst>
          </p:cNvPr>
          <p:cNvSpPr>
            <a:spLocks noGrp="1"/>
          </p:cNvSpPr>
          <p:nvPr/>
        </p:nvSpPr>
        <p:spPr>
          <a:xfrm>
            <a:off x="685800" y="457200"/>
            <a:ext cx="10820400" cy="552450"/>
          </a:xfrm>
          <a:prstGeom prst="rect">
            <a:avLst/>
          </a:prstGeom>
          <a:noFill/>
          <a:ln w="0">
            <a:noFill/>
            <a:prstDash val="solid"/>
          </a:ln>
        </p:spPr>
        <p:txBody>
          <a:bodyPr wrap="square" lIns="0" tIns="0" rIns="0" bIns="0" anchor="t">
            <a:normAutofit/>
          </a:bodyPr>
          <a:lstStyle>
            <a:defPPr algn="l">
              <a:defRPr sz="3000" b="1">
                <a:solidFill>
                  <a:srgbClr val="102A43"/>
                </a:solidFill>
                <a:latin typeface="Arial"/>
                <a:ea typeface="Arial"/>
                <a:cs typeface="Arial"/>
              </a:defRPr>
            </a:defPPr>
          </a:lstStyle>
          <a:p>
            <a:pPr algn="l">
              <a:lnSpc>
                <a:spcPct val="105000"/>
              </a:lnSpc>
              <a:buNone/>
              <a:defRPr sz="3000" b="1">
                <a:solidFill>
                  <a:srgbClr val="102A43"/>
                </a:solidFill>
                <a:latin typeface="Arial"/>
                <a:ea typeface="Arial"/>
                <a:cs typeface="Arial"/>
              </a:defRPr>
            </a:pPr>
            <a:r>
              <a:rPr sz="3000" b="1">
                <a:solidFill>
                  <a:srgbClr val="102A43"/>
                </a:solidFill>
                <a:latin typeface="Arial"/>
                <a:ea typeface="Arial"/>
                <a:cs typeface="Arial"/>
              </a:rPr>
              <a:t>Material structure and loading</a:t>
            </a:r>
          </a:p>
        </p:txBody>
      </p:sp>
      <p:sp>
        <p:nvSpPr>
          <p:cNvPr id="2" name="slide-subtitle">
            <a:extLst>
              <a:ext uri="{FF2B5EF4-FFF2-40B4-BE49-F238E27FC236}">
                <a16:creationId xmlns:a16="http://schemas.microsoft.com/office/drawing/2014/main" id="{E675E5C0-BBAF-48EC-B137-EF532BA4DB5C}"/>
              </a:ext>
            </a:extLst>
          </p:cNvPr>
          <p:cNvSpPr>
            <a:spLocks noGrp="1"/>
          </p:cNvSpPr>
          <p:nvPr/>
        </p:nvSpPr>
        <p:spPr>
          <a:xfrm>
            <a:off x="704850" y="1047750"/>
            <a:ext cx="10477500" cy="400050"/>
          </a:xfrm>
          <a:prstGeom prst="rect">
            <a:avLst/>
          </a:prstGeom>
          <a:noFill/>
          <a:ln w="0">
            <a:noFill/>
            <a:prstDash val="solid"/>
          </a:ln>
        </p:spPr>
        <p:txBody>
          <a:bodyPr wrap="square" lIns="0" tIns="0" rIns="0" bIns="0" anchor="t">
            <a:normAutofit/>
          </a:bodyPr>
          <a:lstStyle>
            <a:defPPr algn="l">
              <a:defRPr sz="1575" b="0">
                <a:solidFill>
                  <a:srgbClr val="526777"/>
                </a:solidFill>
                <a:latin typeface="Arial"/>
                <a:ea typeface="Arial"/>
                <a:cs typeface="Arial"/>
              </a:defRPr>
            </a:defPPr>
          </a:lstStyle>
          <a:p>
            <a:pPr algn="l">
              <a:lnSpc>
                <a:spcPct val="105000"/>
              </a:lnSpc>
              <a:buNone/>
              <a:defRPr sz="1575" b="0">
                <a:solidFill>
                  <a:srgbClr val="526777"/>
                </a:solidFill>
                <a:latin typeface="Arial"/>
                <a:ea typeface="Arial"/>
                <a:cs typeface="Arial"/>
              </a:defRPr>
            </a:pPr>
            <a:r>
              <a:rPr sz="1575" b="0">
                <a:solidFill>
                  <a:srgbClr val="526777"/>
                </a:solidFill>
                <a:latin typeface="Arial"/>
                <a:ea typeface="Arial"/>
                <a:cs typeface="Arial"/>
              </a:rPr>
              <a:t>A soft actuator’s mechanics emerge from its compliant body and its constraints</a:t>
            </a:r>
          </a:p>
        </p:txBody>
      </p:sp>
      <p:sp>
        <p:nvSpPr>
          <p:cNvPr id="3" name="title-rule">
            <a:extLst>
              <a:ext uri="{FF2B5EF4-FFF2-40B4-BE49-F238E27FC236}">
                <a16:creationId xmlns:a16="http://schemas.microsoft.com/office/drawing/2014/main" id="{03CE9CB1-FD27-493E-A77D-AD6A59B386F7}"/>
              </a:ext>
            </a:extLst>
          </p:cNvPr>
          <p:cNvSpPr>
            <a:spLocks noGrp="1"/>
          </p:cNvSpPr>
          <p:nvPr/>
        </p:nvSpPr>
        <p:spPr>
          <a:xfrm>
            <a:off x="685800" y="1543050"/>
            <a:ext cx="704850" cy="47625"/>
          </a:xfrm>
          <a:prstGeom prst="rect">
            <a:avLst/>
          </a:prstGeom>
          <a:solidFill>
            <a:srgbClr val="EF8354"/>
          </a:solidFill>
          <a:ln w="0">
            <a:noFill/>
            <a:prstDash val="solid"/>
          </a:ln>
        </p:spPr>
      </p:sp>
      <p:sp>
        <p:nvSpPr>
          <p:cNvPr id="4" name="actuator-outline">
            <a:extLst>
              <a:ext uri="{FF2B5EF4-FFF2-40B4-BE49-F238E27FC236}">
                <a16:creationId xmlns:a16="http://schemas.microsoft.com/office/drawing/2014/main" id="{71E30E30-0788-422E-B278-C18FDD0DD8CD}"/>
              </a:ext>
            </a:extLst>
          </p:cNvPr>
          <p:cNvSpPr>
            <a:spLocks noGrp="1"/>
          </p:cNvSpPr>
          <p:nvPr/>
        </p:nvSpPr>
        <p:spPr>
          <a:xfrm>
            <a:off x="1219200" y="2705100"/>
            <a:ext cx="4953000" cy="1619250"/>
          </a:xfrm>
          <a:prstGeom prst="roundRect">
            <a:avLst>
              <a:gd name="adj" fmla="val 4706"/>
            </a:avLst>
          </a:prstGeom>
          <a:solidFill>
            <a:srgbClr val="D9F0EC"/>
          </a:solidFill>
          <a:ln w="28575">
            <a:solidFill>
              <a:srgbClr val="168E92"/>
            </a:solidFill>
            <a:prstDash val="solid"/>
          </a:ln>
        </p:spPr>
      </p:sp>
      <p:sp>
        <p:nvSpPr>
          <p:cNvPr id="5" name="actuator-chamber-0">
            <a:extLst>
              <a:ext uri="{FF2B5EF4-FFF2-40B4-BE49-F238E27FC236}">
                <a16:creationId xmlns:a16="http://schemas.microsoft.com/office/drawing/2014/main" id="{F148DD04-CF3B-4F9E-A21C-869B5D4932E0}"/>
              </a:ext>
            </a:extLst>
          </p:cNvPr>
          <p:cNvSpPr>
            <a:spLocks noGrp="1"/>
          </p:cNvSpPr>
          <p:nvPr/>
        </p:nvSpPr>
        <p:spPr>
          <a:xfrm>
            <a:off x="1504950" y="2924175"/>
            <a:ext cx="590550" cy="1114425"/>
          </a:xfrm>
          <a:prstGeom prst="roundRect">
            <a:avLst>
              <a:gd name="adj" fmla="val 12903"/>
            </a:avLst>
          </a:prstGeom>
          <a:solidFill>
            <a:srgbClr val="9BD9D0"/>
          </a:solidFill>
          <a:ln w="9525">
            <a:solidFill>
              <a:srgbClr val="168E92"/>
            </a:solidFill>
            <a:prstDash val="solid"/>
          </a:ln>
        </p:spPr>
      </p:sp>
      <p:sp>
        <p:nvSpPr>
          <p:cNvPr id="6" name="actuator-chamber-1">
            <a:extLst>
              <a:ext uri="{FF2B5EF4-FFF2-40B4-BE49-F238E27FC236}">
                <a16:creationId xmlns:a16="http://schemas.microsoft.com/office/drawing/2014/main" id="{09BC66CA-C98C-4CC1-B2FE-F2840E57E950}"/>
              </a:ext>
            </a:extLst>
          </p:cNvPr>
          <p:cNvSpPr>
            <a:spLocks noGrp="1"/>
          </p:cNvSpPr>
          <p:nvPr/>
        </p:nvSpPr>
        <p:spPr>
          <a:xfrm>
            <a:off x="2371725" y="2924175"/>
            <a:ext cx="590550" cy="1114425"/>
          </a:xfrm>
          <a:prstGeom prst="roundRect">
            <a:avLst>
              <a:gd name="adj" fmla="val 12903"/>
            </a:avLst>
          </a:prstGeom>
          <a:solidFill>
            <a:srgbClr val="9BD9D0"/>
          </a:solidFill>
          <a:ln w="9525">
            <a:solidFill>
              <a:srgbClr val="168E92"/>
            </a:solidFill>
            <a:prstDash val="solid"/>
          </a:ln>
        </p:spPr>
      </p:sp>
      <p:sp>
        <p:nvSpPr>
          <p:cNvPr id="7" name="actuator-chamber-2">
            <a:extLst>
              <a:ext uri="{FF2B5EF4-FFF2-40B4-BE49-F238E27FC236}">
                <a16:creationId xmlns:a16="http://schemas.microsoft.com/office/drawing/2014/main" id="{F6BA6C85-48FE-4795-999F-14786920ED48}"/>
              </a:ext>
            </a:extLst>
          </p:cNvPr>
          <p:cNvSpPr>
            <a:spLocks noGrp="1"/>
          </p:cNvSpPr>
          <p:nvPr/>
        </p:nvSpPr>
        <p:spPr>
          <a:xfrm>
            <a:off x="3238500" y="2924175"/>
            <a:ext cx="590550" cy="1114425"/>
          </a:xfrm>
          <a:prstGeom prst="roundRect">
            <a:avLst>
              <a:gd name="adj" fmla="val 12903"/>
            </a:avLst>
          </a:prstGeom>
          <a:solidFill>
            <a:srgbClr val="9BD9D0"/>
          </a:solidFill>
          <a:ln w="9525">
            <a:solidFill>
              <a:srgbClr val="168E92"/>
            </a:solidFill>
            <a:prstDash val="solid"/>
          </a:ln>
        </p:spPr>
      </p:sp>
      <p:sp>
        <p:nvSpPr>
          <p:cNvPr id="8" name="actuator-chamber-3">
            <a:extLst>
              <a:ext uri="{FF2B5EF4-FFF2-40B4-BE49-F238E27FC236}">
                <a16:creationId xmlns:a16="http://schemas.microsoft.com/office/drawing/2014/main" id="{02BECE25-8F2D-4850-BB19-EB88082B963D}"/>
              </a:ext>
            </a:extLst>
          </p:cNvPr>
          <p:cNvSpPr>
            <a:spLocks noGrp="1"/>
          </p:cNvSpPr>
          <p:nvPr/>
        </p:nvSpPr>
        <p:spPr>
          <a:xfrm>
            <a:off x="4105275" y="2924175"/>
            <a:ext cx="590550" cy="1114425"/>
          </a:xfrm>
          <a:prstGeom prst="roundRect">
            <a:avLst>
              <a:gd name="adj" fmla="val 12903"/>
            </a:avLst>
          </a:prstGeom>
          <a:solidFill>
            <a:srgbClr val="9BD9D0"/>
          </a:solidFill>
          <a:ln w="9525">
            <a:solidFill>
              <a:srgbClr val="168E92"/>
            </a:solidFill>
            <a:prstDash val="solid"/>
          </a:ln>
        </p:spPr>
      </p:sp>
      <p:sp>
        <p:nvSpPr>
          <p:cNvPr id="9" name="actuator-chamber-4">
            <a:extLst>
              <a:ext uri="{FF2B5EF4-FFF2-40B4-BE49-F238E27FC236}">
                <a16:creationId xmlns:a16="http://schemas.microsoft.com/office/drawing/2014/main" id="{BFBE08E2-A2B8-4EEA-9292-9116ACB7E640}"/>
              </a:ext>
            </a:extLst>
          </p:cNvPr>
          <p:cNvSpPr>
            <a:spLocks noGrp="1"/>
          </p:cNvSpPr>
          <p:nvPr/>
        </p:nvSpPr>
        <p:spPr>
          <a:xfrm>
            <a:off x="4972050" y="2924175"/>
            <a:ext cx="590550" cy="1114425"/>
          </a:xfrm>
          <a:prstGeom prst="roundRect">
            <a:avLst>
              <a:gd name="adj" fmla="val 12903"/>
            </a:avLst>
          </a:prstGeom>
          <a:solidFill>
            <a:srgbClr val="9BD9D0"/>
          </a:solidFill>
          <a:ln w="9525">
            <a:solidFill>
              <a:srgbClr val="168E92"/>
            </a:solidFill>
            <a:prstDash val="solid"/>
          </a:ln>
        </p:spPr>
      </p:sp>
      <p:sp>
        <p:nvSpPr>
          <p:cNvPr id="10" name="fabric-layer">
            <a:extLst>
              <a:ext uri="{FF2B5EF4-FFF2-40B4-BE49-F238E27FC236}">
                <a16:creationId xmlns:a16="http://schemas.microsoft.com/office/drawing/2014/main" id="{15232E62-628C-4487-8AAC-AED34BE2B9BA}"/>
              </a:ext>
            </a:extLst>
          </p:cNvPr>
          <p:cNvSpPr>
            <a:spLocks noGrp="1"/>
          </p:cNvSpPr>
          <p:nvPr/>
        </p:nvSpPr>
        <p:spPr>
          <a:xfrm>
            <a:off x="1219200" y="4419600"/>
            <a:ext cx="4953000" cy="171450"/>
          </a:xfrm>
          <a:prstGeom prst="rect">
            <a:avLst/>
          </a:prstGeom>
          <a:solidFill>
            <a:srgbClr val="EF8354"/>
          </a:solidFill>
          <a:ln w="0">
            <a:noFill/>
            <a:prstDash val="solid"/>
          </a:ln>
        </p:spPr>
      </p:sp>
      <p:sp>
        <p:nvSpPr>
          <p:cNvPr id="11" name="pressure-hose">
            <a:extLst>
              <a:ext uri="{FF2B5EF4-FFF2-40B4-BE49-F238E27FC236}">
                <a16:creationId xmlns:a16="http://schemas.microsoft.com/office/drawing/2014/main" id="{7CABFA2E-F51C-4750-8F7C-9282BF6C67DB}"/>
              </a:ext>
            </a:extLst>
          </p:cNvPr>
          <p:cNvSpPr>
            <a:spLocks noGrp="1"/>
          </p:cNvSpPr>
          <p:nvPr/>
        </p:nvSpPr>
        <p:spPr>
          <a:xfrm>
            <a:off x="666750" y="3486150"/>
            <a:ext cx="495300" cy="0"/>
          </a:xfrm>
          <a:prstGeom prst="line">
            <a:avLst/>
          </a:prstGeom>
          <a:noFill/>
          <a:ln w="47625">
            <a:solidFill>
              <a:srgbClr val="E6B85C"/>
            </a:solidFill>
            <a:prstDash val="solid"/>
          </a:ln>
        </p:spPr>
      </p:sp>
      <p:sp>
        <p:nvSpPr>
          <p:cNvPr id="12" name="pressure-port">
            <a:extLst>
              <a:ext uri="{FF2B5EF4-FFF2-40B4-BE49-F238E27FC236}">
                <a16:creationId xmlns:a16="http://schemas.microsoft.com/office/drawing/2014/main" id="{12212309-2902-4185-99B6-FE920FE2E89F}"/>
              </a:ext>
            </a:extLst>
          </p:cNvPr>
          <p:cNvSpPr>
            <a:spLocks noGrp="1"/>
          </p:cNvSpPr>
          <p:nvPr/>
        </p:nvSpPr>
        <p:spPr>
          <a:xfrm>
            <a:off x="476250" y="3333750"/>
            <a:ext cx="266700" cy="304800"/>
          </a:xfrm>
          <a:prstGeom prst="ellipse">
            <a:avLst/>
          </a:prstGeom>
          <a:solidFill>
            <a:srgbClr val="E6B85C"/>
          </a:solidFill>
          <a:ln w="0">
            <a:noFill/>
            <a:prstDash val="solid"/>
          </a:ln>
        </p:spPr>
      </p:sp>
      <p:sp>
        <p:nvSpPr>
          <p:cNvPr id="13" name="pressure-in">
            <a:extLst>
              <a:ext uri="{FF2B5EF4-FFF2-40B4-BE49-F238E27FC236}">
                <a16:creationId xmlns:a16="http://schemas.microsoft.com/office/drawing/2014/main" id="{9B080995-323C-4480-AA40-A89A4C0F7C99}"/>
              </a:ext>
            </a:extLst>
          </p:cNvPr>
          <p:cNvSpPr>
            <a:spLocks noGrp="1"/>
          </p:cNvSpPr>
          <p:nvPr/>
        </p:nvSpPr>
        <p:spPr>
          <a:xfrm>
            <a:off x="819150" y="3048000"/>
            <a:ext cx="1428750" cy="266700"/>
          </a:xfrm>
          <a:prstGeom prst="rect">
            <a:avLst/>
          </a:prstGeom>
          <a:noFill/>
          <a:ln w="0">
            <a:noFill/>
            <a:prstDash val="solid"/>
          </a:ln>
        </p:spPr>
        <p:txBody>
          <a:bodyPr wrap="square" lIns="0" tIns="0" rIns="0" bIns="0" anchor="t">
            <a:normAutofit/>
          </a:bodyPr>
          <a:lstStyle>
            <a:defPPr algn="l">
              <a:defRPr sz="1275" b="0">
                <a:solidFill>
                  <a:srgbClr val="526777"/>
                </a:solidFill>
                <a:latin typeface="Arial"/>
                <a:ea typeface="Arial"/>
                <a:cs typeface="Arial"/>
              </a:defRPr>
            </a:defPPr>
          </a:lstStyle>
          <a:p>
            <a:pPr algn="l">
              <a:lnSpc>
                <a:spcPct val="105000"/>
              </a:lnSpc>
              <a:buNone/>
              <a:defRPr sz="1275" b="0">
                <a:solidFill>
                  <a:srgbClr val="526777"/>
                </a:solidFill>
                <a:latin typeface="Arial"/>
                <a:ea typeface="Arial"/>
                <a:cs typeface="Arial"/>
              </a:defRPr>
            </a:pPr>
            <a:r>
              <a:rPr sz="1275" b="0">
                <a:solidFill>
                  <a:srgbClr val="526777"/>
                </a:solidFill>
                <a:latin typeface="Arial"/>
                <a:ea typeface="Arial"/>
                <a:cs typeface="Arial"/>
              </a:rPr>
              <a:t>air pressure</a:t>
            </a:r>
          </a:p>
        </p:txBody>
      </p:sp>
      <p:sp>
        <p:nvSpPr>
          <p:cNvPr id="14" name="fabric-label">
            <a:extLst>
              <a:ext uri="{FF2B5EF4-FFF2-40B4-BE49-F238E27FC236}">
                <a16:creationId xmlns:a16="http://schemas.microsoft.com/office/drawing/2014/main" id="{F1F88B38-18DF-4158-9826-21AFB980FEB5}"/>
              </a:ext>
            </a:extLst>
          </p:cNvPr>
          <p:cNvSpPr>
            <a:spLocks noGrp="1"/>
          </p:cNvSpPr>
          <p:nvPr/>
        </p:nvSpPr>
        <p:spPr>
          <a:xfrm>
            <a:off x="2438400" y="4667250"/>
            <a:ext cx="2667000" cy="323850"/>
          </a:xfrm>
          <a:prstGeom prst="rect">
            <a:avLst/>
          </a:prstGeom>
          <a:noFill/>
          <a:ln w="0">
            <a:noFill/>
            <a:prstDash val="solid"/>
          </a:ln>
        </p:spPr>
        <p:txBody>
          <a:bodyPr wrap="square" lIns="0" tIns="0" rIns="0" bIns="0" anchor="t">
            <a:normAutofit/>
          </a:bodyPr>
          <a:lstStyle>
            <a:defPPr algn="ctr">
              <a:defRPr sz="1350" b="1">
                <a:solidFill>
                  <a:srgbClr val="EF8354"/>
                </a:solidFill>
                <a:latin typeface="Arial"/>
                <a:ea typeface="Arial"/>
                <a:cs typeface="Arial"/>
              </a:defRPr>
            </a:defPPr>
          </a:lstStyle>
          <a:p>
            <a:pPr algn="ctr">
              <a:lnSpc>
                <a:spcPct val="105000"/>
              </a:lnSpc>
              <a:buNone/>
              <a:defRPr sz="1350" b="1">
                <a:solidFill>
                  <a:srgbClr val="EF8354"/>
                </a:solidFill>
                <a:latin typeface="Arial"/>
                <a:ea typeface="Arial"/>
                <a:cs typeface="Arial"/>
              </a:defRPr>
            </a:pPr>
            <a:r>
              <a:rPr sz="1350" b="1">
                <a:solidFill>
                  <a:srgbClr val="EF8354"/>
                </a:solidFill>
                <a:latin typeface="Arial"/>
                <a:ea typeface="Arial"/>
                <a:cs typeface="Arial"/>
              </a:rPr>
              <a:t>fabric layer limits extension</a:t>
            </a:r>
          </a:p>
        </p:txBody>
      </p:sp>
      <p:sp>
        <p:nvSpPr>
          <p:cNvPr id="15" name="chamber-label">
            <a:extLst>
              <a:ext uri="{FF2B5EF4-FFF2-40B4-BE49-F238E27FC236}">
                <a16:creationId xmlns:a16="http://schemas.microsoft.com/office/drawing/2014/main" id="{714A4D89-ABE7-4D21-BBE9-524A0CB5E98E}"/>
              </a:ext>
            </a:extLst>
          </p:cNvPr>
          <p:cNvSpPr>
            <a:spLocks noGrp="1"/>
          </p:cNvSpPr>
          <p:nvPr/>
        </p:nvSpPr>
        <p:spPr>
          <a:xfrm>
            <a:off x="2705100" y="3209925"/>
            <a:ext cx="2190750" cy="285750"/>
          </a:xfrm>
          <a:prstGeom prst="rect">
            <a:avLst/>
          </a:prstGeom>
          <a:noFill/>
          <a:ln w="0">
            <a:noFill/>
            <a:prstDash val="solid"/>
          </a:ln>
        </p:spPr>
        <p:txBody>
          <a:bodyPr wrap="square" lIns="0" tIns="0" rIns="0" bIns="0" anchor="t">
            <a:normAutofit/>
          </a:bodyPr>
          <a:lstStyle>
            <a:defPPr algn="ctr">
              <a:defRPr sz="1425" b="1">
                <a:solidFill>
                  <a:srgbClr val="102A43"/>
                </a:solidFill>
                <a:latin typeface="Arial"/>
                <a:ea typeface="Arial"/>
                <a:cs typeface="Arial"/>
              </a:defRPr>
            </a:defPPr>
          </a:lstStyle>
          <a:p>
            <a:pPr algn="ctr">
              <a:lnSpc>
                <a:spcPct val="105000"/>
              </a:lnSpc>
              <a:buNone/>
              <a:defRPr sz="1425" b="1">
                <a:solidFill>
                  <a:srgbClr val="102A43"/>
                </a:solidFill>
                <a:latin typeface="Arial"/>
                <a:ea typeface="Arial"/>
                <a:cs typeface="Arial"/>
              </a:defRPr>
            </a:pPr>
            <a:r>
              <a:rPr sz="1425" b="1">
                <a:solidFill>
                  <a:srgbClr val="102A43"/>
                </a:solidFill>
                <a:latin typeface="Arial"/>
                <a:ea typeface="Arial"/>
                <a:cs typeface="Arial"/>
              </a:rPr>
              <a:t>pressurized chambers</a:t>
            </a:r>
          </a:p>
        </p:txBody>
      </p:sp>
      <p:sp>
        <p:nvSpPr>
          <p:cNvPr id="16" name="material-point-1">
            <a:extLst>
              <a:ext uri="{FF2B5EF4-FFF2-40B4-BE49-F238E27FC236}">
                <a16:creationId xmlns:a16="http://schemas.microsoft.com/office/drawing/2014/main" id="{57904DD1-3C2E-4778-A675-7DAF70AE1525}"/>
              </a:ext>
            </a:extLst>
          </p:cNvPr>
          <p:cNvSpPr>
            <a:spLocks noGrp="1"/>
          </p:cNvSpPr>
          <p:nvPr/>
        </p:nvSpPr>
        <p:spPr>
          <a:xfrm>
            <a:off x="6953250" y="2571750"/>
            <a:ext cx="4191000" cy="342900"/>
          </a:xfrm>
          <a:prstGeom prst="rect">
            <a:avLst/>
          </a:prstGeom>
          <a:noFill/>
          <a:ln w="0">
            <a:noFill/>
            <a:prstDash val="solid"/>
          </a:ln>
        </p:spPr>
        <p:txBody>
          <a:bodyPr wrap="square" lIns="0" tIns="0" rIns="0" bIns="0" anchor="t">
            <a:normAutofit/>
          </a:bodyPr>
          <a:lstStyle>
            <a:defPPr algn="l">
              <a:defRPr sz="1950" b="1">
                <a:solidFill>
                  <a:srgbClr val="102A43"/>
                </a:solidFill>
                <a:latin typeface="Arial"/>
                <a:ea typeface="Arial"/>
                <a:cs typeface="Arial"/>
              </a:defRPr>
            </a:defPPr>
          </a:lstStyle>
          <a:p>
            <a:pPr algn="l">
              <a:lnSpc>
                <a:spcPct val="105000"/>
              </a:lnSpc>
              <a:buNone/>
              <a:defRPr sz="1950" b="1">
                <a:solidFill>
                  <a:srgbClr val="102A43"/>
                </a:solidFill>
                <a:latin typeface="Arial"/>
                <a:ea typeface="Arial"/>
                <a:cs typeface="Arial"/>
              </a:defRPr>
            </a:pPr>
            <a:r>
              <a:rPr sz="1950" b="1">
                <a:solidFill>
                  <a:srgbClr val="102A43"/>
                </a:solidFill>
                <a:latin typeface="Arial"/>
                <a:ea typeface="Arial"/>
                <a:cs typeface="Arial"/>
              </a:rPr>
              <a:t>Elastomer body</a:t>
            </a:r>
          </a:p>
        </p:txBody>
      </p:sp>
      <p:sp>
        <p:nvSpPr>
          <p:cNvPr id="17" name="material-desc-1">
            <a:extLst>
              <a:ext uri="{FF2B5EF4-FFF2-40B4-BE49-F238E27FC236}">
                <a16:creationId xmlns:a16="http://schemas.microsoft.com/office/drawing/2014/main" id="{55B4F016-D693-472A-B34D-0908EE4B00D1}"/>
              </a:ext>
            </a:extLst>
          </p:cNvPr>
          <p:cNvSpPr>
            <a:spLocks noGrp="1"/>
          </p:cNvSpPr>
          <p:nvPr/>
        </p:nvSpPr>
        <p:spPr>
          <a:xfrm>
            <a:off x="6953250" y="2981325"/>
            <a:ext cx="4171950" cy="685800"/>
          </a:xfrm>
          <a:prstGeom prst="rect">
            <a:avLst/>
          </a:prstGeom>
          <a:noFill/>
          <a:ln w="0">
            <a:noFill/>
            <a:prstDash val="solid"/>
          </a:ln>
        </p:spPr>
        <p:txBody>
          <a:bodyPr wrap="square" lIns="0" tIns="0" rIns="0" bIns="0" anchor="t">
            <a:normAutofit/>
          </a:bodyPr>
          <a:lstStyle>
            <a:defPPr algn="l">
              <a:defRPr sz="1500" b="0">
                <a:solidFill>
                  <a:srgbClr val="526777"/>
                </a:solidFill>
                <a:latin typeface="Arial"/>
                <a:ea typeface="Arial"/>
                <a:cs typeface="Arial"/>
              </a:defRPr>
            </a:defPPr>
          </a:lstStyle>
          <a:p>
            <a:pPr algn="l">
              <a:lnSpc>
                <a:spcPct val="105000"/>
              </a:lnSpc>
              <a:buNone/>
              <a:defRPr sz="1500" b="0">
                <a:solidFill>
                  <a:srgbClr val="526777"/>
                </a:solidFill>
                <a:latin typeface="Arial"/>
                <a:ea typeface="Arial"/>
                <a:cs typeface="Arial"/>
              </a:defRPr>
            </a:pPr>
            <a:r>
              <a:rPr sz="1500" b="0">
                <a:solidFill>
                  <a:srgbClr val="526777"/>
                </a:solidFill>
                <a:latin typeface="Arial"/>
                <a:ea typeface="Arial"/>
                <a:cs typeface="Arial"/>
              </a:rPr>
              <a:t>Deforms under pneumatic pressure and bends around contact or load constraints.</a:t>
            </a:r>
          </a:p>
        </p:txBody>
      </p:sp>
      <p:sp>
        <p:nvSpPr>
          <p:cNvPr id="18" name="material-point-2">
            <a:extLst>
              <a:ext uri="{FF2B5EF4-FFF2-40B4-BE49-F238E27FC236}">
                <a16:creationId xmlns:a16="http://schemas.microsoft.com/office/drawing/2014/main" id="{FF027EE7-4217-47D0-A178-B3BF2988586F}"/>
              </a:ext>
            </a:extLst>
          </p:cNvPr>
          <p:cNvSpPr>
            <a:spLocks noGrp="1"/>
          </p:cNvSpPr>
          <p:nvPr/>
        </p:nvSpPr>
        <p:spPr>
          <a:xfrm>
            <a:off x="6953250" y="3943350"/>
            <a:ext cx="4191000" cy="342900"/>
          </a:xfrm>
          <a:prstGeom prst="rect">
            <a:avLst/>
          </a:prstGeom>
          <a:noFill/>
          <a:ln w="0">
            <a:noFill/>
            <a:prstDash val="solid"/>
          </a:ln>
        </p:spPr>
        <p:txBody>
          <a:bodyPr wrap="square" lIns="0" tIns="0" rIns="0" bIns="0" anchor="t">
            <a:normAutofit/>
          </a:bodyPr>
          <a:lstStyle>
            <a:defPPr algn="l">
              <a:defRPr sz="1950" b="1">
                <a:solidFill>
                  <a:srgbClr val="102A43"/>
                </a:solidFill>
                <a:latin typeface="Arial"/>
                <a:ea typeface="Arial"/>
                <a:cs typeface="Arial"/>
              </a:defRPr>
            </a:defPPr>
          </a:lstStyle>
          <a:p>
            <a:pPr algn="l">
              <a:lnSpc>
                <a:spcPct val="105000"/>
              </a:lnSpc>
              <a:buNone/>
              <a:defRPr sz="1950" b="1">
                <a:solidFill>
                  <a:srgbClr val="102A43"/>
                </a:solidFill>
                <a:latin typeface="Arial"/>
                <a:ea typeface="Arial"/>
                <a:cs typeface="Arial"/>
              </a:defRPr>
            </a:pPr>
            <a:r>
              <a:rPr sz="1950" b="1">
                <a:solidFill>
                  <a:srgbClr val="102A43"/>
                </a:solidFill>
                <a:latin typeface="Arial"/>
                <a:ea typeface="Arial"/>
                <a:cs typeface="Arial"/>
              </a:rPr>
              <a:t>Fabric constraint</a:t>
            </a:r>
          </a:p>
        </p:txBody>
      </p:sp>
      <p:sp>
        <p:nvSpPr>
          <p:cNvPr id="19" name="material-desc-2">
            <a:extLst>
              <a:ext uri="{FF2B5EF4-FFF2-40B4-BE49-F238E27FC236}">
                <a16:creationId xmlns:a16="http://schemas.microsoft.com/office/drawing/2014/main" id="{5E3903EE-620E-4C44-B75C-C8A880155C24}"/>
              </a:ext>
            </a:extLst>
          </p:cNvPr>
          <p:cNvSpPr>
            <a:spLocks noGrp="1"/>
          </p:cNvSpPr>
          <p:nvPr/>
        </p:nvSpPr>
        <p:spPr>
          <a:xfrm>
            <a:off x="6953250" y="4352925"/>
            <a:ext cx="4171950" cy="685800"/>
          </a:xfrm>
          <a:prstGeom prst="rect">
            <a:avLst/>
          </a:prstGeom>
          <a:noFill/>
          <a:ln w="0">
            <a:noFill/>
            <a:prstDash val="solid"/>
          </a:ln>
        </p:spPr>
        <p:txBody>
          <a:bodyPr wrap="square" lIns="0" tIns="0" rIns="0" bIns="0" anchor="t">
            <a:normAutofit/>
          </a:bodyPr>
          <a:lstStyle>
            <a:defPPr algn="l">
              <a:defRPr sz="1500" b="0">
                <a:solidFill>
                  <a:srgbClr val="526777"/>
                </a:solidFill>
                <a:latin typeface="Arial"/>
                <a:ea typeface="Arial"/>
                <a:cs typeface="Arial"/>
              </a:defRPr>
            </a:defPPr>
          </a:lstStyle>
          <a:p>
            <a:pPr algn="l">
              <a:lnSpc>
                <a:spcPct val="105000"/>
              </a:lnSpc>
              <a:buNone/>
              <a:defRPr sz="1500" b="0">
                <a:solidFill>
                  <a:srgbClr val="526777"/>
                </a:solidFill>
                <a:latin typeface="Arial"/>
                <a:ea typeface="Arial"/>
                <a:cs typeface="Arial"/>
              </a:defRPr>
            </a:pPr>
            <a:r>
              <a:rPr sz="1500" b="0">
                <a:solidFill>
                  <a:srgbClr val="526777"/>
                </a:solidFill>
                <a:latin typeface="Arial"/>
                <a:ea typeface="Arial"/>
                <a:cs typeface="Arial"/>
              </a:rPr>
              <a:t>Restricts extension on one side, producing bending instead of uniform expansion.</a:t>
            </a:r>
          </a:p>
        </p:txBody>
      </p:sp>
      <p:sp>
        <p:nvSpPr>
          <p:cNvPr id="20" name="mechanics-link">
            <a:extLst>
              <a:ext uri="{FF2B5EF4-FFF2-40B4-BE49-F238E27FC236}">
                <a16:creationId xmlns:a16="http://schemas.microsoft.com/office/drawing/2014/main" id="{F5E7EC46-CBC5-4A66-8741-B63F98DED779}"/>
              </a:ext>
            </a:extLst>
          </p:cNvPr>
          <p:cNvSpPr>
            <a:spLocks noGrp="1"/>
          </p:cNvSpPr>
          <p:nvPr/>
        </p:nvSpPr>
        <p:spPr>
          <a:xfrm>
            <a:off x="6953250" y="5410200"/>
            <a:ext cx="4171950" cy="590550"/>
          </a:xfrm>
          <a:prstGeom prst="rect">
            <a:avLst/>
          </a:prstGeom>
          <a:noFill/>
          <a:ln w="0">
            <a:noFill/>
            <a:prstDash val="solid"/>
          </a:ln>
        </p:spPr>
        <p:txBody>
          <a:bodyPr wrap="square" lIns="0" tIns="0" rIns="0" bIns="0" anchor="t">
            <a:normAutofit/>
          </a:bodyPr>
          <a:lstStyle>
            <a:defPPr algn="l">
              <a:defRPr sz="1575" b="1">
                <a:solidFill>
                  <a:srgbClr val="168E92"/>
                </a:solidFill>
                <a:latin typeface="Arial"/>
                <a:ea typeface="Arial"/>
                <a:cs typeface="Arial"/>
              </a:defRPr>
            </a:defPPr>
          </a:lstStyle>
          <a:p>
            <a:pPr algn="l">
              <a:lnSpc>
                <a:spcPct val="105000"/>
              </a:lnSpc>
              <a:buNone/>
              <a:defRPr sz="1575" b="1">
                <a:solidFill>
                  <a:srgbClr val="168E92"/>
                </a:solidFill>
                <a:latin typeface="Arial"/>
                <a:ea typeface="Arial"/>
                <a:cs typeface="Arial"/>
              </a:defRPr>
            </a:pPr>
            <a:r>
              <a:rPr sz="1575" b="1">
                <a:solidFill>
                  <a:srgbClr val="168E92"/>
                </a:solidFill>
                <a:latin typeface="Arial"/>
                <a:ea typeface="Arial"/>
                <a:cs typeface="Arial"/>
              </a:rPr>
              <a:t>Our ML target is the actuator’s pulling response under imposed displacement.</a:t>
            </a:r>
          </a:p>
        </p:txBody>
      </p:sp>
    </p:spTree>
    <p:extLst>
      <p:ext uri="{BB962C8B-B14F-4D97-AF65-F5344CB8AC3E}">
        <p14:creationId xmlns:p14="http://schemas.microsoft.com/office/powerpoint/2010/main" val="17059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D9A9C6A5-EB08-4A49-85B4-8301A7FD8F7B}"/>
              </a:ext>
            </a:extLst>
          </p:cNvPr>
          <p:cNvSpPr>
            <a:spLocks noGrp="1"/>
          </p:cNvSpPr>
          <p:nvPr/>
        </p:nvSpPr>
        <p:spPr>
          <a:xfrm>
            <a:off x="685800" y="457200"/>
            <a:ext cx="10820400" cy="552450"/>
          </a:xfrm>
          <a:prstGeom prst="rect">
            <a:avLst/>
          </a:prstGeom>
          <a:noFill/>
          <a:ln w="0">
            <a:noFill/>
            <a:prstDash val="solid"/>
          </a:ln>
        </p:spPr>
        <p:txBody>
          <a:bodyPr wrap="square" lIns="0" tIns="0" rIns="0" bIns="0" anchor="t">
            <a:normAutofit/>
          </a:bodyPr>
          <a:lstStyle>
            <a:defPPr algn="l">
              <a:defRPr sz="3000" b="1">
                <a:solidFill>
                  <a:srgbClr val="102A43"/>
                </a:solidFill>
                <a:latin typeface="Arial"/>
                <a:ea typeface="Arial"/>
                <a:cs typeface="Arial"/>
              </a:defRPr>
            </a:defPPr>
          </a:lstStyle>
          <a:p>
            <a:pPr algn="l">
              <a:lnSpc>
                <a:spcPct val="105000"/>
              </a:lnSpc>
              <a:buNone/>
              <a:defRPr sz="3000" b="1">
                <a:solidFill>
                  <a:srgbClr val="102A43"/>
                </a:solidFill>
                <a:latin typeface="Arial"/>
                <a:ea typeface="Arial"/>
                <a:cs typeface="Arial"/>
              </a:defRPr>
            </a:pPr>
            <a:r>
              <a:rPr sz="3000" b="1">
                <a:solidFill>
                  <a:srgbClr val="102A43"/>
                </a:solidFill>
                <a:latin typeface="Arial"/>
                <a:ea typeface="Arial"/>
                <a:cs typeface="Arial"/>
              </a:rPr>
              <a:t>Question and experimental data</a:t>
            </a:r>
          </a:p>
        </p:txBody>
      </p:sp>
      <p:sp>
        <p:nvSpPr>
          <p:cNvPr id="2" name="slide-subtitle">
            <a:extLst>
              <a:ext uri="{FF2B5EF4-FFF2-40B4-BE49-F238E27FC236}">
                <a16:creationId xmlns:a16="http://schemas.microsoft.com/office/drawing/2014/main" id="{CBCCA8B2-20E2-4772-83AE-66C24A289A7A}"/>
              </a:ext>
            </a:extLst>
          </p:cNvPr>
          <p:cNvSpPr>
            <a:spLocks noGrp="1"/>
          </p:cNvSpPr>
          <p:nvPr/>
        </p:nvSpPr>
        <p:spPr>
          <a:xfrm>
            <a:off x="704850" y="1047750"/>
            <a:ext cx="10477500" cy="400050"/>
          </a:xfrm>
          <a:prstGeom prst="rect">
            <a:avLst/>
          </a:prstGeom>
          <a:noFill/>
          <a:ln w="0">
            <a:noFill/>
            <a:prstDash val="solid"/>
          </a:ln>
        </p:spPr>
        <p:txBody>
          <a:bodyPr wrap="square" lIns="0" tIns="0" rIns="0" bIns="0" anchor="t">
            <a:normAutofit/>
          </a:bodyPr>
          <a:lstStyle>
            <a:defPPr algn="l">
              <a:defRPr sz="1575" b="0">
                <a:solidFill>
                  <a:srgbClr val="526777"/>
                </a:solidFill>
                <a:latin typeface="Arial"/>
                <a:ea typeface="Arial"/>
                <a:cs typeface="Arial"/>
              </a:defRPr>
            </a:defPPr>
          </a:lstStyle>
          <a:p>
            <a:pPr algn="l">
              <a:lnSpc>
                <a:spcPct val="105000"/>
              </a:lnSpc>
              <a:buNone/>
              <a:defRPr sz="1575" b="0">
                <a:solidFill>
                  <a:srgbClr val="526777"/>
                </a:solidFill>
                <a:latin typeface="Arial"/>
                <a:ea typeface="Arial"/>
                <a:cs typeface="Arial"/>
              </a:defRPr>
            </a:pPr>
            <a:r>
              <a:rPr sz="1575" b="0">
                <a:solidFill>
                  <a:srgbClr val="526777"/>
                </a:solidFill>
                <a:latin typeface="Arial"/>
                <a:ea typeface="Arial"/>
                <a:cs typeface="Arial"/>
              </a:rPr>
              <a:t>A real, repeated measurement set gives the model a mechanical response to learn</a:t>
            </a:r>
          </a:p>
        </p:txBody>
      </p:sp>
      <p:sp>
        <p:nvSpPr>
          <p:cNvPr id="3" name="title-rule">
            <a:extLst>
              <a:ext uri="{FF2B5EF4-FFF2-40B4-BE49-F238E27FC236}">
                <a16:creationId xmlns:a16="http://schemas.microsoft.com/office/drawing/2014/main" id="{047F3B87-54BA-4337-AE4A-DB707C36DB19}"/>
              </a:ext>
            </a:extLst>
          </p:cNvPr>
          <p:cNvSpPr>
            <a:spLocks noGrp="1"/>
          </p:cNvSpPr>
          <p:nvPr/>
        </p:nvSpPr>
        <p:spPr>
          <a:xfrm>
            <a:off x="685800" y="1543050"/>
            <a:ext cx="704850" cy="47625"/>
          </a:xfrm>
          <a:prstGeom prst="rect">
            <a:avLst/>
          </a:prstGeom>
          <a:solidFill>
            <a:srgbClr val="EF8354"/>
          </a:solidFill>
          <a:ln w="0">
            <a:noFill/>
            <a:prstDash val="solid"/>
          </a:ln>
        </p:spPr>
      </p:sp>
      <p:sp>
        <p:nvSpPr>
          <p:cNvPr id="4" name="research-question-label">
            <a:extLst>
              <a:ext uri="{FF2B5EF4-FFF2-40B4-BE49-F238E27FC236}">
                <a16:creationId xmlns:a16="http://schemas.microsoft.com/office/drawing/2014/main" id="{9483AB27-F2F8-4AB1-B576-38933EA9D71C}"/>
              </a:ext>
            </a:extLst>
          </p:cNvPr>
          <p:cNvSpPr>
            <a:spLocks noGrp="1"/>
          </p:cNvSpPr>
          <p:nvPr/>
        </p:nvSpPr>
        <p:spPr>
          <a:xfrm>
            <a:off x="742950" y="2076450"/>
            <a:ext cx="2476500" cy="228600"/>
          </a:xfrm>
          <a:prstGeom prst="rect">
            <a:avLst/>
          </a:prstGeom>
          <a:noFill/>
          <a:ln w="0">
            <a:noFill/>
            <a:prstDash val="solid"/>
          </a:ln>
        </p:spPr>
        <p:txBody>
          <a:bodyPr wrap="square" lIns="0" tIns="0" rIns="0" bIns="0" anchor="t">
            <a:normAutofit/>
          </a:bodyPr>
          <a:lstStyle>
            <a:defPPr algn="l">
              <a:defRPr sz="1125" b="1">
                <a:solidFill>
                  <a:srgbClr val="168E92"/>
                </a:solidFill>
                <a:latin typeface="Arial"/>
                <a:ea typeface="Arial"/>
                <a:cs typeface="Arial"/>
              </a:defRPr>
            </a:defPPr>
          </a:lstStyle>
          <a:p>
            <a:pPr algn="l">
              <a:lnSpc>
                <a:spcPct val="105000"/>
              </a:lnSpc>
              <a:buNone/>
              <a:defRPr sz="1125" b="1">
                <a:solidFill>
                  <a:srgbClr val="168E92"/>
                </a:solidFill>
                <a:latin typeface="Arial"/>
                <a:ea typeface="Arial"/>
                <a:cs typeface="Arial"/>
              </a:defRPr>
            </a:pPr>
            <a:r>
              <a:rPr sz="1125" b="1">
                <a:solidFill>
                  <a:srgbClr val="168E92"/>
                </a:solidFill>
                <a:latin typeface="Arial"/>
                <a:ea typeface="Arial"/>
                <a:cs typeface="Arial"/>
              </a:rPr>
              <a:t>RESEARCH QUESTION</a:t>
            </a:r>
          </a:p>
        </p:txBody>
      </p:sp>
      <p:sp>
        <p:nvSpPr>
          <p:cNvPr id="5" name="research-question">
            <a:extLst>
              <a:ext uri="{FF2B5EF4-FFF2-40B4-BE49-F238E27FC236}">
                <a16:creationId xmlns:a16="http://schemas.microsoft.com/office/drawing/2014/main" id="{26B58D7F-0E2C-4E97-B69B-C4306E198CD2}"/>
              </a:ext>
            </a:extLst>
          </p:cNvPr>
          <p:cNvSpPr>
            <a:spLocks noGrp="1"/>
          </p:cNvSpPr>
          <p:nvPr/>
        </p:nvSpPr>
        <p:spPr>
          <a:xfrm>
            <a:off x="742950" y="2362200"/>
            <a:ext cx="4762500" cy="1123950"/>
          </a:xfrm>
          <a:prstGeom prst="rect">
            <a:avLst/>
          </a:prstGeom>
          <a:noFill/>
          <a:ln w="0">
            <a:noFill/>
            <a:prstDash val="solid"/>
          </a:ln>
        </p:spPr>
        <p:txBody>
          <a:bodyPr wrap="square" lIns="0" tIns="0" rIns="0" bIns="0" anchor="t">
            <a:normAutofit fontScale="99327" lnSpcReduction="10000"/>
          </a:bodyPr>
          <a:lstStyle>
            <a:defPPr algn="l">
              <a:defRPr sz="2475" b="1">
                <a:solidFill>
                  <a:srgbClr val="102A43"/>
                </a:solidFill>
                <a:latin typeface="Arial"/>
                <a:ea typeface="Arial"/>
                <a:cs typeface="Arial"/>
              </a:defRPr>
            </a:defPPr>
          </a:lstStyle>
          <a:p>
            <a:pPr algn="l">
              <a:lnSpc>
                <a:spcPct val="100000"/>
              </a:lnSpc>
              <a:buNone/>
              <a:defRPr sz="2475" b="1">
                <a:solidFill>
                  <a:srgbClr val="102A43"/>
                </a:solidFill>
                <a:latin typeface="Arial"/>
                <a:ea typeface="Arial"/>
                <a:cs typeface="Arial"/>
              </a:defRPr>
            </a:pPr>
            <a:r>
              <a:rPr sz="2475" b="1">
                <a:solidFill>
                  <a:srgbClr val="102A43"/>
                </a:solidFill>
                <a:latin typeface="Arial"/>
                <a:ea typeface="Arial"/>
                <a:cs typeface="Arial"/>
              </a:rPr>
              <a:t>Can pressure and imposed displacement predict the actuator’s pulling response?</a:t>
            </a:r>
          </a:p>
        </p:txBody>
      </p:sp>
      <p:sp>
        <p:nvSpPr>
          <p:cNvPr id="6" name="data-divider">
            <a:extLst>
              <a:ext uri="{FF2B5EF4-FFF2-40B4-BE49-F238E27FC236}">
                <a16:creationId xmlns:a16="http://schemas.microsoft.com/office/drawing/2014/main" id="{91651EE6-666C-4E8B-ABF9-7637B056B904}"/>
              </a:ext>
            </a:extLst>
          </p:cNvPr>
          <p:cNvSpPr>
            <a:spLocks noGrp="1"/>
          </p:cNvSpPr>
          <p:nvPr/>
        </p:nvSpPr>
        <p:spPr>
          <a:xfrm>
            <a:off x="6076950" y="2076450"/>
            <a:ext cx="0" cy="3543300"/>
          </a:xfrm>
          <a:prstGeom prst="line">
            <a:avLst/>
          </a:prstGeom>
          <a:noFill/>
          <a:ln w="19050">
            <a:solidFill>
              <a:srgbClr val="D4DEE3"/>
            </a:solidFill>
            <a:prstDash val="solid"/>
          </a:ln>
        </p:spPr>
      </p:sp>
      <p:sp>
        <p:nvSpPr>
          <p:cNvPr id="7" name="dataset-source-label">
            <a:extLst>
              <a:ext uri="{FF2B5EF4-FFF2-40B4-BE49-F238E27FC236}">
                <a16:creationId xmlns:a16="http://schemas.microsoft.com/office/drawing/2014/main" id="{D05C4C79-6A3F-41FD-8197-A3D916EBC350}"/>
              </a:ext>
            </a:extLst>
          </p:cNvPr>
          <p:cNvSpPr>
            <a:spLocks noGrp="1"/>
          </p:cNvSpPr>
          <p:nvPr/>
        </p:nvSpPr>
        <p:spPr>
          <a:xfrm>
            <a:off x="6572250" y="2076450"/>
            <a:ext cx="1714500" cy="228600"/>
          </a:xfrm>
          <a:prstGeom prst="rect">
            <a:avLst/>
          </a:prstGeom>
          <a:noFill/>
          <a:ln w="0">
            <a:noFill/>
            <a:prstDash val="solid"/>
          </a:ln>
        </p:spPr>
        <p:txBody>
          <a:bodyPr wrap="square" lIns="0" tIns="0" rIns="0" bIns="0" anchor="t">
            <a:normAutofit/>
          </a:bodyPr>
          <a:lstStyle>
            <a:defPPr algn="l">
              <a:defRPr sz="1125" b="1">
                <a:solidFill>
                  <a:srgbClr val="168E92"/>
                </a:solidFill>
                <a:latin typeface="Arial"/>
                <a:ea typeface="Arial"/>
                <a:cs typeface="Arial"/>
              </a:defRPr>
            </a:defPPr>
          </a:lstStyle>
          <a:p>
            <a:pPr algn="l">
              <a:lnSpc>
                <a:spcPct val="105000"/>
              </a:lnSpc>
              <a:buNone/>
              <a:defRPr sz="1125" b="1">
                <a:solidFill>
                  <a:srgbClr val="168E92"/>
                </a:solidFill>
                <a:latin typeface="Arial"/>
                <a:ea typeface="Arial"/>
                <a:cs typeface="Arial"/>
              </a:defRPr>
            </a:pPr>
            <a:r>
              <a:rPr sz="1125" b="1">
                <a:solidFill>
                  <a:srgbClr val="168E92"/>
                </a:solidFill>
                <a:latin typeface="Arial"/>
                <a:ea typeface="Arial"/>
                <a:cs typeface="Arial"/>
              </a:rPr>
              <a:t>DATASET</a:t>
            </a:r>
          </a:p>
        </p:txBody>
      </p:sp>
      <p:sp>
        <p:nvSpPr>
          <p:cNvPr id="8" name="dataset-source">
            <a:extLst>
              <a:ext uri="{FF2B5EF4-FFF2-40B4-BE49-F238E27FC236}">
                <a16:creationId xmlns:a16="http://schemas.microsoft.com/office/drawing/2014/main" id="{9E1109CF-14E3-45CF-AE2D-632D55C56A26}"/>
              </a:ext>
            </a:extLst>
          </p:cNvPr>
          <p:cNvSpPr>
            <a:spLocks noGrp="1"/>
          </p:cNvSpPr>
          <p:nvPr/>
        </p:nvSpPr>
        <p:spPr>
          <a:xfrm>
            <a:off x="6572250" y="2362200"/>
            <a:ext cx="4572000" cy="495300"/>
          </a:xfrm>
          <a:prstGeom prst="rect">
            <a:avLst/>
          </a:prstGeom>
          <a:noFill/>
          <a:ln w="0">
            <a:noFill/>
            <a:prstDash val="solid"/>
          </a:ln>
        </p:spPr>
        <p:txBody>
          <a:bodyPr wrap="square" lIns="0" tIns="0" rIns="0" bIns="0" anchor="t">
            <a:normAutofit fontScale="90469"/>
          </a:bodyPr>
          <a:lstStyle>
            <a:defPPr algn="l">
              <a:defRPr sz="2025" b="1">
                <a:solidFill>
                  <a:srgbClr val="102A43"/>
                </a:solidFill>
                <a:latin typeface="Arial"/>
                <a:ea typeface="Arial"/>
                <a:cs typeface="Arial"/>
              </a:defRPr>
            </a:defPPr>
          </a:lstStyle>
          <a:p>
            <a:pPr algn="l">
              <a:lnSpc>
                <a:spcPct val="105000"/>
              </a:lnSpc>
              <a:buNone/>
              <a:defRPr sz="2025" b="1">
                <a:solidFill>
                  <a:srgbClr val="102A43"/>
                </a:solidFill>
                <a:latin typeface="Arial"/>
                <a:ea typeface="Arial"/>
                <a:cs typeface="Arial"/>
              </a:defRPr>
            </a:pPr>
            <a:r>
              <a:rPr sz="2025" b="1">
                <a:solidFill>
                  <a:srgbClr val="102A43"/>
                </a:solidFill>
                <a:latin typeface="Arial"/>
                <a:ea typeface="Arial"/>
                <a:cs typeface="Arial"/>
              </a:rPr>
              <a:t>EPFL soft-actuator force characterization</a:t>
            </a:r>
          </a:p>
        </p:txBody>
      </p:sp>
      <p:sp>
        <p:nvSpPr>
          <p:cNvPr id="9" name="data-stat-0">
            <a:extLst>
              <a:ext uri="{FF2B5EF4-FFF2-40B4-BE49-F238E27FC236}">
                <a16:creationId xmlns:a16="http://schemas.microsoft.com/office/drawing/2014/main" id="{814AE759-67B7-4A89-82EB-11DDA9B7267A}"/>
              </a:ext>
            </a:extLst>
          </p:cNvPr>
          <p:cNvSpPr>
            <a:spLocks noGrp="1"/>
          </p:cNvSpPr>
          <p:nvPr/>
        </p:nvSpPr>
        <p:spPr>
          <a:xfrm>
            <a:off x="6572250" y="3371850"/>
            <a:ext cx="1504950" cy="495300"/>
          </a:xfrm>
          <a:prstGeom prst="rect">
            <a:avLst/>
          </a:prstGeom>
          <a:noFill/>
          <a:ln w="0">
            <a:noFill/>
            <a:prstDash val="solid"/>
          </a:ln>
        </p:spPr>
        <p:txBody>
          <a:bodyPr wrap="square" lIns="0" tIns="0" rIns="0" bIns="0" anchor="t">
            <a:normAutofit/>
          </a:bodyPr>
          <a:lstStyle>
            <a:defPPr algn="l">
              <a:defRPr sz="2925" b="1">
                <a:solidFill>
                  <a:srgbClr val="102A43"/>
                </a:solidFill>
                <a:latin typeface="Arial"/>
                <a:ea typeface="Arial"/>
                <a:cs typeface="Arial"/>
              </a:defRPr>
            </a:defPPr>
          </a:lstStyle>
          <a:p>
            <a:pPr algn="l">
              <a:lnSpc>
                <a:spcPct val="105000"/>
              </a:lnSpc>
              <a:buNone/>
              <a:defRPr sz="2925" b="1">
                <a:solidFill>
                  <a:srgbClr val="102A43"/>
                </a:solidFill>
                <a:latin typeface="Arial"/>
                <a:ea typeface="Arial"/>
                <a:cs typeface="Arial"/>
              </a:defRPr>
            </a:pPr>
            <a:r>
              <a:rPr sz="2925" b="1">
                <a:solidFill>
                  <a:srgbClr val="102A43"/>
                </a:solidFill>
                <a:latin typeface="Arial"/>
                <a:ea typeface="Arial"/>
                <a:cs typeface="Arial"/>
              </a:rPr>
              <a:t>9</a:t>
            </a:r>
          </a:p>
        </p:txBody>
      </p:sp>
      <p:sp>
        <p:nvSpPr>
          <p:cNvPr id="10" name="data-stat-label-0">
            <a:extLst>
              <a:ext uri="{FF2B5EF4-FFF2-40B4-BE49-F238E27FC236}">
                <a16:creationId xmlns:a16="http://schemas.microsoft.com/office/drawing/2014/main" id="{2206B491-C06F-41EF-9D35-51ABEAA1BC49}"/>
              </a:ext>
            </a:extLst>
          </p:cNvPr>
          <p:cNvSpPr>
            <a:spLocks noGrp="1"/>
          </p:cNvSpPr>
          <p:nvPr/>
        </p:nvSpPr>
        <p:spPr>
          <a:xfrm>
            <a:off x="6572250" y="3924300"/>
            <a:ext cx="1504950" cy="609600"/>
          </a:xfrm>
          <a:prstGeom prst="rect">
            <a:avLst/>
          </a:prstGeom>
          <a:noFill/>
          <a:ln w="0">
            <a:noFill/>
            <a:prstDash val="solid"/>
          </a:ln>
        </p:spPr>
        <p:txBody>
          <a:bodyPr wrap="square" lIns="0" tIns="0" rIns="0" bIns="0" anchor="t">
            <a:normAutofit/>
          </a:bodyPr>
          <a:lstStyle>
            <a:defPPr algn="l">
              <a:defRPr sz="1275" b="0">
                <a:solidFill>
                  <a:srgbClr val="526777"/>
                </a:solidFill>
                <a:latin typeface="Arial"/>
                <a:ea typeface="Arial"/>
                <a:cs typeface="Arial"/>
              </a:defRPr>
            </a:defPPr>
          </a:lstStyle>
          <a:p>
            <a:pPr algn="l">
              <a:lnSpc>
                <a:spcPct val="105000"/>
              </a:lnSpc>
              <a:buNone/>
              <a:defRPr sz="1275" b="0">
                <a:solidFill>
                  <a:srgbClr val="526777"/>
                </a:solidFill>
                <a:latin typeface="Arial"/>
                <a:ea typeface="Arial"/>
                <a:cs typeface="Arial"/>
              </a:defRPr>
            </a:pPr>
            <a:r>
              <a:rPr sz="1275" b="0">
                <a:solidFill>
                  <a:srgbClr val="526777"/>
                </a:solidFill>
                <a:latin typeface="Arial"/>
                <a:ea typeface="Arial"/>
                <a:cs typeface="Arial"/>
              </a:rPr>
              <a:t>pressure settings</a:t>
            </a:r>
          </a:p>
          <a:p>
            <a:pPr algn="l">
              <a:lnSpc>
                <a:spcPct val="105000"/>
              </a:lnSpc>
              <a:buNone/>
              <a:defRPr sz="1275" b="0">
                <a:solidFill>
                  <a:srgbClr val="526777"/>
                </a:solidFill>
                <a:latin typeface="Arial"/>
                <a:ea typeface="Arial"/>
                <a:cs typeface="Arial"/>
              </a:defRPr>
            </a:pPr>
            <a:r>
              <a:rPr sz="1275" b="0">
                <a:solidFill>
                  <a:srgbClr val="526777"/>
                </a:solidFill>
                <a:latin typeface="Arial"/>
                <a:ea typeface="Arial"/>
                <a:cs typeface="Arial"/>
              </a:rPr>
              <a:t>0–200 kPa</a:t>
            </a:r>
          </a:p>
        </p:txBody>
      </p:sp>
      <p:sp>
        <p:nvSpPr>
          <p:cNvPr id="11" name="data-stat-1">
            <a:extLst>
              <a:ext uri="{FF2B5EF4-FFF2-40B4-BE49-F238E27FC236}">
                <a16:creationId xmlns:a16="http://schemas.microsoft.com/office/drawing/2014/main" id="{BB9BA439-A93D-4AF6-B85A-EB97B302A43F}"/>
              </a:ext>
            </a:extLst>
          </p:cNvPr>
          <p:cNvSpPr>
            <a:spLocks noGrp="1"/>
          </p:cNvSpPr>
          <p:nvPr/>
        </p:nvSpPr>
        <p:spPr>
          <a:xfrm>
            <a:off x="8191500" y="3371850"/>
            <a:ext cx="1504950" cy="495300"/>
          </a:xfrm>
          <a:prstGeom prst="rect">
            <a:avLst/>
          </a:prstGeom>
          <a:noFill/>
          <a:ln w="0">
            <a:noFill/>
            <a:prstDash val="solid"/>
          </a:ln>
        </p:spPr>
        <p:txBody>
          <a:bodyPr wrap="square" lIns="0" tIns="0" rIns="0" bIns="0" anchor="t">
            <a:normAutofit/>
          </a:bodyPr>
          <a:lstStyle>
            <a:defPPr algn="l">
              <a:defRPr sz="2925" b="1">
                <a:solidFill>
                  <a:srgbClr val="102A43"/>
                </a:solidFill>
                <a:latin typeface="Arial"/>
                <a:ea typeface="Arial"/>
                <a:cs typeface="Arial"/>
              </a:defRPr>
            </a:defPPr>
          </a:lstStyle>
          <a:p>
            <a:pPr algn="l">
              <a:lnSpc>
                <a:spcPct val="105000"/>
              </a:lnSpc>
              <a:buNone/>
              <a:defRPr sz="2925" b="1">
                <a:solidFill>
                  <a:srgbClr val="102A43"/>
                </a:solidFill>
                <a:latin typeface="Arial"/>
                <a:ea typeface="Arial"/>
                <a:cs typeface="Arial"/>
              </a:defRPr>
            </a:pPr>
            <a:r>
              <a:rPr sz="2925" b="1">
                <a:solidFill>
                  <a:srgbClr val="102A43"/>
                </a:solidFill>
                <a:latin typeface="Arial"/>
                <a:ea typeface="Arial"/>
                <a:cs typeface="Arial"/>
              </a:rPr>
              <a:t>30</a:t>
            </a:r>
          </a:p>
        </p:txBody>
      </p:sp>
      <p:sp>
        <p:nvSpPr>
          <p:cNvPr id="12" name="data-stat-label-1">
            <a:extLst>
              <a:ext uri="{FF2B5EF4-FFF2-40B4-BE49-F238E27FC236}">
                <a16:creationId xmlns:a16="http://schemas.microsoft.com/office/drawing/2014/main" id="{D8258CAC-28CA-4F3F-964C-3929DAA80B52}"/>
              </a:ext>
            </a:extLst>
          </p:cNvPr>
          <p:cNvSpPr>
            <a:spLocks noGrp="1"/>
          </p:cNvSpPr>
          <p:nvPr/>
        </p:nvSpPr>
        <p:spPr>
          <a:xfrm>
            <a:off x="8191500" y="3924300"/>
            <a:ext cx="1504950" cy="609600"/>
          </a:xfrm>
          <a:prstGeom prst="rect">
            <a:avLst/>
          </a:prstGeom>
          <a:noFill/>
          <a:ln w="0">
            <a:noFill/>
            <a:prstDash val="solid"/>
          </a:ln>
        </p:spPr>
        <p:txBody>
          <a:bodyPr wrap="square" lIns="0" tIns="0" rIns="0" bIns="0" anchor="t">
            <a:normAutofit fontScale="99595" lnSpcReduction="10000"/>
          </a:bodyPr>
          <a:lstStyle>
            <a:defPPr algn="l">
              <a:defRPr sz="1275" b="0">
                <a:solidFill>
                  <a:srgbClr val="526777"/>
                </a:solidFill>
                <a:latin typeface="Arial"/>
                <a:ea typeface="Arial"/>
                <a:cs typeface="Arial"/>
              </a:defRPr>
            </a:defPPr>
          </a:lstStyle>
          <a:p>
            <a:pPr algn="l">
              <a:lnSpc>
                <a:spcPct val="105000"/>
              </a:lnSpc>
              <a:buNone/>
              <a:defRPr sz="1275" b="0">
                <a:solidFill>
                  <a:srgbClr val="526777"/>
                </a:solidFill>
                <a:latin typeface="Arial"/>
                <a:ea typeface="Arial"/>
                <a:cs typeface="Arial"/>
              </a:defRPr>
            </a:pPr>
            <a:r>
              <a:rPr sz="1275" b="0">
                <a:solidFill>
                  <a:srgbClr val="526777"/>
                </a:solidFill>
                <a:latin typeface="Arial"/>
                <a:ea typeface="Arial"/>
                <a:cs typeface="Arial"/>
              </a:rPr>
              <a:t>recorded trials</a:t>
            </a:r>
          </a:p>
          <a:p>
            <a:pPr algn="l">
              <a:lnSpc>
                <a:spcPct val="105000"/>
              </a:lnSpc>
              <a:buNone/>
              <a:defRPr sz="1275" b="0">
                <a:solidFill>
                  <a:srgbClr val="526777"/>
                </a:solidFill>
                <a:latin typeface="Arial"/>
                <a:ea typeface="Arial"/>
                <a:cs typeface="Arial"/>
              </a:defRPr>
            </a:pPr>
            <a:r>
              <a:rPr sz="1275" b="0">
                <a:solidFill>
                  <a:srgbClr val="526777"/>
                </a:solidFill>
                <a:latin typeface="Arial"/>
                <a:ea typeface="Arial"/>
                <a:cs typeface="Arial"/>
              </a:rPr>
              <a:t>3–4 repeats per setting</a:t>
            </a:r>
          </a:p>
        </p:txBody>
      </p:sp>
      <p:sp>
        <p:nvSpPr>
          <p:cNvPr id="13" name="data-stat-2">
            <a:extLst>
              <a:ext uri="{FF2B5EF4-FFF2-40B4-BE49-F238E27FC236}">
                <a16:creationId xmlns:a16="http://schemas.microsoft.com/office/drawing/2014/main" id="{FF76FAB4-C85C-4BBF-9C3F-8F9B06AE7952}"/>
              </a:ext>
            </a:extLst>
          </p:cNvPr>
          <p:cNvSpPr>
            <a:spLocks noGrp="1"/>
          </p:cNvSpPr>
          <p:nvPr/>
        </p:nvSpPr>
        <p:spPr>
          <a:xfrm>
            <a:off x="9810750" y="3371850"/>
            <a:ext cx="1504950" cy="495300"/>
          </a:xfrm>
          <a:prstGeom prst="rect">
            <a:avLst/>
          </a:prstGeom>
          <a:noFill/>
          <a:ln w="0">
            <a:noFill/>
            <a:prstDash val="solid"/>
          </a:ln>
        </p:spPr>
        <p:txBody>
          <a:bodyPr wrap="square" lIns="0" tIns="0" rIns="0" bIns="0" anchor="t">
            <a:normAutofit/>
          </a:bodyPr>
          <a:lstStyle>
            <a:defPPr algn="l">
              <a:defRPr sz="2925" b="1">
                <a:solidFill>
                  <a:srgbClr val="EF8354"/>
                </a:solidFill>
                <a:latin typeface="Arial"/>
                <a:ea typeface="Arial"/>
                <a:cs typeface="Arial"/>
              </a:defRPr>
            </a:defPPr>
          </a:lstStyle>
          <a:p>
            <a:pPr algn="l">
              <a:lnSpc>
                <a:spcPct val="105000"/>
              </a:lnSpc>
              <a:buNone/>
              <a:defRPr sz="2925" b="1">
                <a:solidFill>
                  <a:srgbClr val="EF8354"/>
                </a:solidFill>
                <a:latin typeface="Arial"/>
                <a:ea typeface="Arial"/>
                <a:cs typeface="Arial"/>
              </a:defRPr>
            </a:pPr>
            <a:r>
              <a:rPr sz="2925" b="1">
                <a:solidFill>
                  <a:srgbClr val="EF8354"/>
                </a:solidFill>
                <a:latin typeface="Arial"/>
                <a:ea typeface="Arial"/>
                <a:cs typeface="Arial"/>
              </a:rPr>
              <a:t>37,073</a:t>
            </a:r>
          </a:p>
        </p:txBody>
      </p:sp>
      <p:sp>
        <p:nvSpPr>
          <p:cNvPr id="14" name="data-stat-label-2">
            <a:extLst>
              <a:ext uri="{FF2B5EF4-FFF2-40B4-BE49-F238E27FC236}">
                <a16:creationId xmlns:a16="http://schemas.microsoft.com/office/drawing/2014/main" id="{421A1492-410E-4C3C-A0F1-94BA66C0E721}"/>
              </a:ext>
            </a:extLst>
          </p:cNvPr>
          <p:cNvSpPr>
            <a:spLocks noGrp="1"/>
          </p:cNvSpPr>
          <p:nvPr/>
        </p:nvSpPr>
        <p:spPr>
          <a:xfrm>
            <a:off x="9810750" y="3924300"/>
            <a:ext cx="1504950" cy="609600"/>
          </a:xfrm>
          <a:prstGeom prst="rect">
            <a:avLst/>
          </a:prstGeom>
          <a:noFill/>
          <a:ln w="0">
            <a:noFill/>
            <a:prstDash val="solid"/>
          </a:ln>
        </p:spPr>
        <p:txBody>
          <a:bodyPr wrap="square" lIns="0" tIns="0" rIns="0" bIns="0" anchor="t">
            <a:normAutofit fontScale="99595" lnSpcReduction="10000"/>
          </a:bodyPr>
          <a:lstStyle>
            <a:defPPr algn="l">
              <a:defRPr sz="1275" b="0">
                <a:solidFill>
                  <a:srgbClr val="526777"/>
                </a:solidFill>
                <a:latin typeface="Arial"/>
                <a:ea typeface="Arial"/>
                <a:cs typeface="Arial"/>
              </a:defRPr>
            </a:defPPr>
          </a:lstStyle>
          <a:p>
            <a:pPr algn="l">
              <a:lnSpc>
                <a:spcPct val="105000"/>
              </a:lnSpc>
              <a:buNone/>
              <a:defRPr sz="1275" b="0">
                <a:solidFill>
                  <a:srgbClr val="526777"/>
                </a:solidFill>
                <a:latin typeface="Arial"/>
                <a:ea typeface="Arial"/>
                <a:cs typeface="Arial"/>
              </a:defRPr>
            </a:pPr>
            <a:r>
              <a:rPr sz="1275" b="0">
                <a:solidFill>
                  <a:srgbClr val="526777"/>
                </a:solidFill>
                <a:latin typeface="Arial"/>
                <a:ea typeface="Arial"/>
                <a:cs typeface="Arial"/>
              </a:rPr>
              <a:t>aligned rows</a:t>
            </a:r>
          </a:p>
          <a:p>
            <a:pPr algn="l">
              <a:lnSpc>
                <a:spcPct val="105000"/>
              </a:lnSpc>
              <a:buNone/>
              <a:defRPr sz="1275" b="0">
                <a:solidFill>
                  <a:srgbClr val="526777"/>
                </a:solidFill>
                <a:latin typeface="Arial"/>
                <a:ea typeface="Arial"/>
                <a:cs typeface="Arial"/>
              </a:defRPr>
            </a:pPr>
            <a:r>
              <a:rPr sz="1275" b="0">
                <a:solidFill>
                  <a:srgbClr val="526777"/>
                </a:solidFill>
                <a:latin typeface="Arial"/>
                <a:ea typeface="Arial"/>
                <a:cs typeface="Arial"/>
              </a:rPr>
              <a:t>within shared time range</a:t>
            </a:r>
          </a:p>
        </p:txBody>
      </p:sp>
      <p:sp>
        <p:nvSpPr>
          <p:cNvPr id="15" name="dataset-boundary">
            <a:extLst>
              <a:ext uri="{FF2B5EF4-FFF2-40B4-BE49-F238E27FC236}">
                <a16:creationId xmlns:a16="http://schemas.microsoft.com/office/drawing/2014/main" id="{B3B11658-FFDE-4460-832E-7731BD32E23D}"/>
              </a:ext>
            </a:extLst>
          </p:cNvPr>
          <p:cNvSpPr>
            <a:spLocks noGrp="1"/>
          </p:cNvSpPr>
          <p:nvPr/>
        </p:nvSpPr>
        <p:spPr>
          <a:xfrm>
            <a:off x="6572250" y="5010150"/>
            <a:ext cx="4552950" cy="590550"/>
          </a:xfrm>
          <a:prstGeom prst="rect">
            <a:avLst/>
          </a:prstGeom>
          <a:noFill/>
          <a:ln w="0">
            <a:noFill/>
            <a:prstDash val="solid"/>
          </a:ln>
        </p:spPr>
        <p:txBody>
          <a:bodyPr wrap="square" lIns="0" tIns="0" rIns="0" bIns="0" anchor="t">
            <a:normAutofit/>
          </a:bodyPr>
          <a:lstStyle>
            <a:defPPr algn="l">
              <a:defRPr sz="1425" b="0">
                <a:solidFill>
                  <a:srgbClr val="526777"/>
                </a:solidFill>
                <a:latin typeface="Arial"/>
                <a:ea typeface="Arial"/>
                <a:cs typeface="Arial"/>
              </a:defRPr>
            </a:defPPr>
          </a:lstStyle>
          <a:p>
            <a:pPr algn="l">
              <a:lnSpc>
                <a:spcPct val="105000"/>
              </a:lnSpc>
              <a:buNone/>
              <a:defRPr sz="1425" b="0">
                <a:solidFill>
                  <a:srgbClr val="526777"/>
                </a:solidFill>
                <a:latin typeface="Arial"/>
                <a:ea typeface="Arial"/>
                <a:cs typeface="Arial"/>
              </a:defRPr>
            </a:pPr>
            <a:r>
              <a:rPr sz="1425" b="0">
                <a:solidFill>
                  <a:srgbClr val="526777"/>
                </a:solidFill>
                <a:latin typeface="Arial"/>
                <a:ea typeface="Arial"/>
                <a:cs typeface="Arial"/>
              </a:rPr>
              <a:t>One actuator and one test setup; the dataset does not cover multiple elastomer formulations.</a:t>
            </a:r>
          </a:p>
        </p:txBody>
      </p:sp>
    </p:spTree>
    <p:extLst>
      <p:ext uri="{BB962C8B-B14F-4D97-AF65-F5344CB8AC3E}">
        <p14:creationId xmlns:p14="http://schemas.microsoft.com/office/powerpoint/2010/main" val="1583640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CB55490C-349B-4D10-B322-44A1718FC2F7}"/>
              </a:ext>
            </a:extLst>
          </p:cNvPr>
          <p:cNvSpPr>
            <a:spLocks noGrp="1"/>
          </p:cNvSpPr>
          <p:nvPr/>
        </p:nvSpPr>
        <p:spPr>
          <a:xfrm>
            <a:off x="685800" y="457200"/>
            <a:ext cx="10820400" cy="552450"/>
          </a:xfrm>
          <a:prstGeom prst="rect">
            <a:avLst/>
          </a:prstGeom>
          <a:noFill/>
          <a:ln w="0">
            <a:noFill/>
            <a:prstDash val="solid"/>
          </a:ln>
        </p:spPr>
        <p:txBody>
          <a:bodyPr wrap="square" lIns="0" tIns="0" rIns="0" bIns="0" anchor="t">
            <a:normAutofit/>
          </a:bodyPr>
          <a:lstStyle>
            <a:defPPr algn="l">
              <a:defRPr sz="3000" b="1">
                <a:solidFill>
                  <a:srgbClr val="102A43"/>
                </a:solidFill>
                <a:latin typeface="Arial"/>
                <a:ea typeface="Arial"/>
                <a:cs typeface="Arial"/>
              </a:defRPr>
            </a:defPPr>
          </a:lstStyle>
          <a:p>
            <a:pPr algn="l">
              <a:lnSpc>
                <a:spcPct val="105000"/>
              </a:lnSpc>
              <a:buNone/>
              <a:defRPr sz="3000" b="1">
                <a:solidFill>
                  <a:srgbClr val="102A43"/>
                </a:solidFill>
                <a:latin typeface="Arial"/>
                <a:ea typeface="Arial"/>
                <a:cs typeface="Arial"/>
              </a:defRPr>
            </a:pPr>
            <a:r>
              <a:rPr sz="3000" b="1">
                <a:solidFill>
                  <a:srgbClr val="102A43"/>
                </a:solidFill>
                <a:latin typeface="Arial"/>
                <a:ea typeface="Arial"/>
                <a:cs typeface="Arial"/>
              </a:rPr>
              <a:t>From raw recordings to model inputs</a:t>
            </a:r>
          </a:p>
        </p:txBody>
      </p:sp>
      <p:sp>
        <p:nvSpPr>
          <p:cNvPr id="2" name="slide-subtitle">
            <a:extLst>
              <a:ext uri="{FF2B5EF4-FFF2-40B4-BE49-F238E27FC236}">
                <a16:creationId xmlns:a16="http://schemas.microsoft.com/office/drawing/2014/main" id="{2CF54A3F-06E3-4F89-A7BF-58059BE79DA4}"/>
              </a:ext>
            </a:extLst>
          </p:cNvPr>
          <p:cNvSpPr>
            <a:spLocks noGrp="1"/>
          </p:cNvSpPr>
          <p:nvPr/>
        </p:nvSpPr>
        <p:spPr>
          <a:xfrm>
            <a:off x="704850" y="1047750"/>
            <a:ext cx="10477500" cy="400050"/>
          </a:xfrm>
          <a:prstGeom prst="rect">
            <a:avLst/>
          </a:prstGeom>
          <a:noFill/>
          <a:ln w="0">
            <a:noFill/>
            <a:prstDash val="solid"/>
          </a:ln>
        </p:spPr>
        <p:txBody>
          <a:bodyPr wrap="square" lIns="0" tIns="0" rIns="0" bIns="0" anchor="t">
            <a:normAutofit/>
          </a:bodyPr>
          <a:lstStyle>
            <a:defPPr algn="l">
              <a:defRPr sz="1575" b="0">
                <a:solidFill>
                  <a:srgbClr val="526777"/>
                </a:solidFill>
                <a:latin typeface="Arial"/>
                <a:ea typeface="Arial"/>
                <a:cs typeface="Arial"/>
              </a:defRPr>
            </a:defPPr>
          </a:lstStyle>
          <a:p>
            <a:pPr algn="l">
              <a:lnSpc>
                <a:spcPct val="105000"/>
              </a:lnSpc>
              <a:buNone/>
              <a:defRPr sz="1575" b="0">
                <a:solidFill>
                  <a:srgbClr val="526777"/>
                </a:solidFill>
                <a:latin typeface="Arial"/>
                <a:ea typeface="Arial"/>
                <a:cs typeface="Arial"/>
              </a:defRPr>
            </a:pPr>
            <a:r>
              <a:rPr sz="1575" b="0">
                <a:solidFill>
                  <a:srgbClr val="526777"/>
                </a:solidFill>
                <a:latin typeface="Arial"/>
                <a:ea typeface="Arial"/>
                <a:cs typeface="Arial"/>
              </a:rPr>
              <a:t>The model learns a mapping from operating conditions to a measured response</a:t>
            </a:r>
          </a:p>
        </p:txBody>
      </p:sp>
      <p:sp>
        <p:nvSpPr>
          <p:cNvPr id="3" name="title-rule">
            <a:extLst>
              <a:ext uri="{FF2B5EF4-FFF2-40B4-BE49-F238E27FC236}">
                <a16:creationId xmlns:a16="http://schemas.microsoft.com/office/drawing/2014/main" id="{B6ABF698-B918-428B-9B5F-7EE1FF3D9F0B}"/>
              </a:ext>
            </a:extLst>
          </p:cNvPr>
          <p:cNvSpPr>
            <a:spLocks noGrp="1"/>
          </p:cNvSpPr>
          <p:nvPr/>
        </p:nvSpPr>
        <p:spPr>
          <a:xfrm>
            <a:off x="685800" y="1543050"/>
            <a:ext cx="704850" cy="47625"/>
          </a:xfrm>
          <a:prstGeom prst="rect">
            <a:avLst/>
          </a:prstGeom>
          <a:solidFill>
            <a:srgbClr val="EF8354"/>
          </a:solidFill>
          <a:ln w="0">
            <a:noFill/>
            <a:prstDash val="solid"/>
          </a:ln>
        </p:spPr>
      </p:sp>
      <p:sp>
        <p:nvSpPr>
          <p:cNvPr id="4" name="pipeline-block-0">
            <a:extLst>
              <a:ext uri="{FF2B5EF4-FFF2-40B4-BE49-F238E27FC236}">
                <a16:creationId xmlns:a16="http://schemas.microsoft.com/office/drawing/2014/main" id="{A7283777-BADD-4471-867D-519B75309AB9}"/>
              </a:ext>
            </a:extLst>
          </p:cNvPr>
          <p:cNvSpPr>
            <a:spLocks noGrp="1"/>
          </p:cNvSpPr>
          <p:nvPr/>
        </p:nvSpPr>
        <p:spPr>
          <a:xfrm>
            <a:off x="781050" y="2476500"/>
            <a:ext cx="2190750" cy="1390650"/>
          </a:xfrm>
          <a:prstGeom prst="roundRect">
            <a:avLst>
              <a:gd name="adj" fmla="val 5479"/>
            </a:avLst>
          </a:prstGeom>
          <a:solidFill>
            <a:srgbClr val="D9F0EC"/>
          </a:solidFill>
          <a:ln w="0">
            <a:noFill/>
            <a:prstDash val="solid"/>
          </a:ln>
        </p:spPr>
      </p:sp>
      <p:sp>
        <p:nvSpPr>
          <p:cNvPr id="5" name="pipeline-heading-0">
            <a:extLst>
              <a:ext uri="{FF2B5EF4-FFF2-40B4-BE49-F238E27FC236}">
                <a16:creationId xmlns:a16="http://schemas.microsoft.com/office/drawing/2014/main" id="{0223058F-7D69-48F9-8683-64CC94FE239D}"/>
              </a:ext>
            </a:extLst>
          </p:cNvPr>
          <p:cNvSpPr>
            <a:spLocks noGrp="1"/>
          </p:cNvSpPr>
          <p:nvPr/>
        </p:nvSpPr>
        <p:spPr>
          <a:xfrm>
            <a:off x="952500" y="2724150"/>
            <a:ext cx="1847850" cy="342900"/>
          </a:xfrm>
          <a:prstGeom prst="rect">
            <a:avLst/>
          </a:prstGeom>
          <a:noFill/>
          <a:ln w="0">
            <a:noFill/>
            <a:prstDash val="solid"/>
          </a:ln>
        </p:spPr>
        <p:txBody>
          <a:bodyPr wrap="square" lIns="0" tIns="0" rIns="0" bIns="0" anchor="t">
            <a:normAutofit/>
          </a:bodyPr>
          <a:lstStyle>
            <a:defPPr algn="ctr">
              <a:defRPr sz="1725" b="1">
                <a:solidFill>
                  <a:srgbClr val="102A43"/>
                </a:solidFill>
                <a:latin typeface="Arial"/>
                <a:ea typeface="Arial"/>
                <a:cs typeface="Arial"/>
              </a:defRPr>
            </a:defPPr>
          </a:lstStyle>
          <a:p>
            <a:pPr algn="ctr">
              <a:lnSpc>
                <a:spcPct val="105000"/>
              </a:lnSpc>
              <a:buNone/>
              <a:defRPr sz="1725" b="1">
                <a:solidFill>
                  <a:srgbClr val="102A43"/>
                </a:solidFill>
                <a:latin typeface="Arial"/>
                <a:ea typeface="Arial"/>
                <a:cs typeface="Arial"/>
              </a:defRPr>
            </a:pPr>
            <a:r>
              <a:rPr sz="1725" b="1">
                <a:solidFill>
                  <a:srgbClr val="102A43"/>
                </a:solidFill>
                <a:latin typeface="Arial"/>
                <a:ea typeface="Arial"/>
                <a:cs typeface="Arial"/>
              </a:rPr>
              <a:t>Pressure</a:t>
            </a:r>
          </a:p>
        </p:txBody>
      </p:sp>
      <p:sp>
        <p:nvSpPr>
          <p:cNvPr id="6" name="pipeline-value-0">
            <a:extLst>
              <a:ext uri="{FF2B5EF4-FFF2-40B4-BE49-F238E27FC236}">
                <a16:creationId xmlns:a16="http://schemas.microsoft.com/office/drawing/2014/main" id="{2A27E8C3-5BE7-4776-A804-72019208FA55}"/>
              </a:ext>
            </a:extLst>
          </p:cNvPr>
          <p:cNvSpPr>
            <a:spLocks noGrp="1"/>
          </p:cNvSpPr>
          <p:nvPr/>
        </p:nvSpPr>
        <p:spPr>
          <a:xfrm>
            <a:off x="952500" y="3238500"/>
            <a:ext cx="1847850" cy="381000"/>
          </a:xfrm>
          <a:prstGeom prst="rect">
            <a:avLst/>
          </a:prstGeom>
          <a:noFill/>
          <a:ln w="0">
            <a:noFill/>
            <a:prstDash val="solid"/>
          </a:ln>
        </p:spPr>
        <p:txBody>
          <a:bodyPr wrap="square" lIns="0" tIns="0" rIns="0" bIns="0" anchor="t">
            <a:normAutofit/>
          </a:bodyPr>
          <a:lstStyle>
            <a:defPPr algn="ctr">
              <a:defRPr sz="1275" b="0">
                <a:solidFill>
                  <a:srgbClr val="526777"/>
                </a:solidFill>
                <a:latin typeface="Arial"/>
                <a:ea typeface="Arial"/>
                <a:cs typeface="Arial"/>
              </a:defRPr>
            </a:defPPr>
          </a:lstStyle>
          <a:p>
            <a:pPr algn="ctr">
              <a:lnSpc>
                <a:spcPct val="105000"/>
              </a:lnSpc>
              <a:buNone/>
              <a:defRPr sz="1275" b="0">
                <a:solidFill>
                  <a:srgbClr val="526777"/>
                </a:solidFill>
                <a:latin typeface="Arial"/>
                <a:ea typeface="Arial"/>
                <a:cs typeface="Arial"/>
              </a:defRPr>
            </a:pPr>
            <a:r>
              <a:rPr sz="1275" b="0">
                <a:solidFill>
                  <a:srgbClr val="526777"/>
                </a:solidFill>
                <a:latin typeface="Arial"/>
                <a:ea typeface="Arial"/>
                <a:cs typeface="Arial"/>
              </a:rPr>
              <a:t>measured kPa</a:t>
            </a:r>
          </a:p>
        </p:txBody>
      </p:sp>
      <p:sp>
        <p:nvSpPr>
          <p:cNvPr id="7" name="pipeline-block-1">
            <a:extLst>
              <a:ext uri="{FF2B5EF4-FFF2-40B4-BE49-F238E27FC236}">
                <a16:creationId xmlns:a16="http://schemas.microsoft.com/office/drawing/2014/main" id="{305F3334-792B-410A-9E96-4949DB278A20}"/>
              </a:ext>
            </a:extLst>
          </p:cNvPr>
          <p:cNvSpPr>
            <a:spLocks noGrp="1"/>
          </p:cNvSpPr>
          <p:nvPr/>
        </p:nvSpPr>
        <p:spPr>
          <a:xfrm>
            <a:off x="3505200" y="2476500"/>
            <a:ext cx="2190750" cy="1390650"/>
          </a:xfrm>
          <a:prstGeom prst="roundRect">
            <a:avLst>
              <a:gd name="adj" fmla="val 5479"/>
            </a:avLst>
          </a:prstGeom>
          <a:solidFill>
            <a:srgbClr val="FCE8D9"/>
          </a:solidFill>
          <a:ln w="0">
            <a:noFill/>
            <a:prstDash val="solid"/>
          </a:ln>
        </p:spPr>
      </p:sp>
      <p:sp>
        <p:nvSpPr>
          <p:cNvPr id="8" name="pipeline-heading-1">
            <a:extLst>
              <a:ext uri="{FF2B5EF4-FFF2-40B4-BE49-F238E27FC236}">
                <a16:creationId xmlns:a16="http://schemas.microsoft.com/office/drawing/2014/main" id="{E9D91734-F7EB-44F1-80B7-98F0564301BC}"/>
              </a:ext>
            </a:extLst>
          </p:cNvPr>
          <p:cNvSpPr>
            <a:spLocks noGrp="1"/>
          </p:cNvSpPr>
          <p:nvPr/>
        </p:nvSpPr>
        <p:spPr>
          <a:xfrm>
            <a:off x="3676650" y="2724150"/>
            <a:ext cx="1847850" cy="342900"/>
          </a:xfrm>
          <a:prstGeom prst="rect">
            <a:avLst/>
          </a:prstGeom>
          <a:noFill/>
          <a:ln w="0">
            <a:noFill/>
            <a:prstDash val="solid"/>
          </a:ln>
        </p:spPr>
        <p:txBody>
          <a:bodyPr wrap="square" lIns="0" tIns="0" rIns="0" bIns="0" anchor="t">
            <a:normAutofit/>
          </a:bodyPr>
          <a:lstStyle>
            <a:defPPr algn="ctr">
              <a:defRPr sz="1725" b="1">
                <a:solidFill>
                  <a:srgbClr val="102A43"/>
                </a:solidFill>
                <a:latin typeface="Arial"/>
                <a:ea typeface="Arial"/>
                <a:cs typeface="Arial"/>
              </a:defRPr>
            </a:defPPr>
          </a:lstStyle>
          <a:p>
            <a:pPr algn="ctr">
              <a:lnSpc>
                <a:spcPct val="105000"/>
              </a:lnSpc>
              <a:buNone/>
              <a:defRPr sz="1725" b="1">
                <a:solidFill>
                  <a:srgbClr val="102A43"/>
                </a:solidFill>
                <a:latin typeface="Arial"/>
                <a:ea typeface="Arial"/>
                <a:cs typeface="Arial"/>
              </a:defRPr>
            </a:pPr>
            <a:r>
              <a:rPr sz="1725" b="1">
                <a:solidFill>
                  <a:srgbClr val="102A43"/>
                </a:solidFill>
                <a:latin typeface="Arial"/>
                <a:ea typeface="Arial"/>
                <a:cs typeface="Arial"/>
              </a:rPr>
              <a:t>Displacement</a:t>
            </a:r>
          </a:p>
        </p:txBody>
      </p:sp>
      <p:sp>
        <p:nvSpPr>
          <p:cNvPr id="9" name="pipeline-value-1">
            <a:extLst>
              <a:ext uri="{FF2B5EF4-FFF2-40B4-BE49-F238E27FC236}">
                <a16:creationId xmlns:a16="http://schemas.microsoft.com/office/drawing/2014/main" id="{1F499828-8B7A-4BCA-A231-EA5D1DA2E77C}"/>
              </a:ext>
            </a:extLst>
          </p:cNvPr>
          <p:cNvSpPr>
            <a:spLocks noGrp="1"/>
          </p:cNvSpPr>
          <p:nvPr/>
        </p:nvSpPr>
        <p:spPr>
          <a:xfrm>
            <a:off x="3676650" y="3238500"/>
            <a:ext cx="1847850" cy="381000"/>
          </a:xfrm>
          <a:prstGeom prst="rect">
            <a:avLst/>
          </a:prstGeom>
          <a:noFill/>
          <a:ln w="0">
            <a:noFill/>
            <a:prstDash val="solid"/>
          </a:ln>
        </p:spPr>
        <p:txBody>
          <a:bodyPr wrap="square" lIns="0" tIns="0" rIns="0" bIns="0" anchor="t">
            <a:normAutofit/>
          </a:bodyPr>
          <a:lstStyle>
            <a:defPPr algn="ctr">
              <a:defRPr sz="1275" b="0">
                <a:solidFill>
                  <a:srgbClr val="526777"/>
                </a:solidFill>
                <a:latin typeface="Arial"/>
                <a:ea typeface="Arial"/>
                <a:cs typeface="Arial"/>
              </a:defRPr>
            </a:defPPr>
          </a:lstStyle>
          <a:p>
            <a:pPr algn="ctr">
              <a:lnSpc>
                <a:spcPct val="105000"/>
              </a:lnSpc>
              <a:buNone/>
              <a:defRPr sz="1275" b="0">
                <a:solidFill>
                  <a:srgbClr val="526777"/>
                </a:solidFill>
                <a:latin typeface="Arial"/>
                <a:ea typeface="Arial"/>
                <a:cs typeface="Arial"/>
              </a:defRPr>
            </a:pPr>
            <a:r>
              <a:rPr sz="1275" b="0">
                <a:solidFill>
                  <a:srgbClr val="526777"/>
                </a:solidFill>
                <a:latin typeface="Arial"/>
                <a:ea typeface="Arial"/>
                <a:cs typeface="Arial"/>
              </a:rPr>
              <a:t>normalized 0–1</a:t>
            </a:r>
          </a:p>
        </p:txBody>
      </p:sp>
      <p:sp>
        <p:nvSpPr>
          <p:cNvPr id="10" name="pipeline-block-2">
            <a:extLst>
              <a:ext uri="{FF2B5EF4-FFF2-40B4-BE49-F238E27FC236}">
                <a16:creationId xmlns:a16="http://schemas.microsoft.com/office/drawing/2014/main" id="{EAAC4575-1180-4707-AC89-D6E686C84894}"/>
              </a:ext>
            </a:extLst>
          </p:cNvPr>
          <p:cNvSpPr>
            <a:spLocks noGrp="1"/>
          </p:cNvSpPr>
          <p:nvPr/>
        </p:nvSpPr>
        <p:spPr>
          <a:xfrm>
            <a:off x="6229350" y="2476500"/>
            <a:ext cx="2419350" cy="1390650"/>
          </a:xfrm>
          <a:prstGeom prst="roundRect">
            <a:avLst>
              <a:gd name="adj" fmla="val 5479"/>
            </a:avLst>
          </a:prstGeom>
          <a:solidFill>
            <a:srgbClr val="E7EAF5"/>
          </a:solidFill>
          <a:ln w="0">
            <a:noFill/>
            <a:prstDash val="solid"/>
          </a:ln>
        </p:spPr>
      </p:sp>
      <p:sp>
        <p:nvSpPr>
          <p:cNvPr id="11" name="pipeline-heading-2">
            <a:extLst>
              <a:ext uri="{FF2B5EF4-FFF2-40B4-BE49-F238E27FC236}">
                <a16:creationId xmlns:a16="http://schemas.microsoft.com/office/drawing/2014/main" id="{DE2C8DD4-554E-4BEA-BA9C-9A65E25383C3}"/>
              </a:ext>
            </a:extLst>
          </p:cNvPr>
          <p:cNvSpPr>
            <a:spLocks noGrp="1"/>
          </p:cNvSpPr>
          <p:nvPr/>
        </p:nvSpPr>
        <p:spPr>
          <a:xfrm>
            <a:off x="6400800" y="2724150"/>
            <a:ext cx="2076450" cy="342900"/>
          </a:xfrm>
          <a:prstGeom prst="rect">
            <a:avLst/>
          </a:prstGeom>
          <a:noFill/>
          <a:ln w="0">
            <a:noFill/>
            <a:prstDash val="solid"/>
          </a:ln>
        </p:spPr>
        <p:txBody>
          <a:bodyPr wrap="square" lIns="0" tIns="0" rIns="0" bIns="0" anchor="t">
            <a:normAutofit/>
          </a:bodyPr>
          <a:lstStyle>
            <a:defPPr algn="ctr">
              <a:defRPr sz="1725" b="1">
                <a:solidFill>
                  <a:srgbClr val="102A43"/>
                </a:solidFill>
                <a:latin typeface="Arial"/>
                <a:ea typeface="Arial"/>
                <a:cs typeface="Arial"/>
              </a:defRPr>
            </a:defPPr>
          </a:lstStyle>
          <a:p>
            <a:pPr algn="ctr">
              <a:lnSpc>
                <a:spcPct val="105000"/>
              </a:lnSpc>
              <a:buNone/>
              <a:defRPr sz="1725" b="1">
                <a:solidFill>
                  <a:srgbClr val="102A43"/>
                </a:solidFill>
                <a:latin typeface="Arial"/>
                <a:ea typeface="Arial"/>
                <a:cs typeface="Arial"/>
              </a:defRPr>
            </a:pPr>
            <a:r>
              <a:rPr sz="1725" b="1">
                <a:solidFill>
                  <a:srgbClr val="102A43"/>
                </a:solidFill>
                <a:latin typeface="Arial"/>
                <a:ea typeface="Arial"/>
                <a:cs typeface="Arial"/>
              </a:rPr>
              <a:t>Regression model</a:t>
            </a:r>
          </a:p>
        </p:txBody>
      </p:sp>
      <p:sp>
        <p:nvSpPr>
          <p:cNvPr id="12" name="pipeline-value-2">
            <a:extLst>
              <a:ext uri="{FF2B5EF4-FFF2-40B4-BE49-F238E27FC236}">
                <a16:creationId xmlns:a16="http://schemas.microsoft.com/office/drawing/2014/main" id="{C08AE22A-8494-47D8-810F-71114B96D191}"/>
              </a:ext>
            </a:extLst>
          </p:cNvPr>
          <p:cNvSpPr>
            <a:spLocks noGrp="1"/>
          </p:cNvSpPr>
          <p:nvPr/>
        </p:nvSpPr>
        <p:spPr>
          <a:xfrm>
            <a:off x="6400800" y="3238500"/>
            <a:ext cx="2076450" cy="381000"/>
          </a:xfrm>
          <a:prstGeom prst="rect">
            <a:avLst/>
          </a:prstGeom>
          <a:noFill/>
          <a:ln w="0">
            <a:noFill/>
            <a:prstDash val="solid"/>
          </a:ln>
        </p:spPr>
        <p:txBody>
          <a:bodyPr wrap="square" lIns="0" tIns="0" rIns="0" bIns="0" anchor="t">
            <a:normAutofit/>
          </a:bodyPr>
          <a:lstStyle>
            <a:defPPr algn="ctr">
              <a:defRPr sz="1275" b="0">
                <a:solidFill>
                  <a:srgbClr val="526777"/>
                </a:solidFill>
                <a:latin typeface="Arial"/>
                <a:ea typeface="Arial"/>
                <a:cs typeface="Arial"/>
              </a:defRPr>
            </a:defPPr>
          </a:lstStyle>
          <a:p>
            <a:pPr algn="ctr">
              <a:lnSpc>
                <a:spcPct val="105000"/>
              </a:lnSpc>
              <a:buNone/>
              <a:defRPr sz="1275" b="0">
                <a:solidFill>
                  <a:srgbClr val="526777"/>
                </a:solidFill>
                <a:latin typeface="Arial"/>
                <a:ea typeface="Arial"/>
                <a:cs typeface="Arial"/>
              </a:defRPr>
            </a:pPr>
            <a:r>
              <a:rPr sz="1275" b="0">
                <a:solidFill>
                  <a:srgbClr val="526777"/>
                </a:solidFill>
                <a:latin typeface="Arial"/>
                <a:ea typeface="Arial"/>
                <a:cs typeface="Arial"/>
              </a:rPr>
              <a:t>quadratic features</a:t>
            </a:r>
          </a:p>
        </p:txBody>
      </p:sp>
      <p:sp>
        <p:nvSpPr>
          <p:cNvPr id="13" name="pipeline-block-3">
            <a:extLst>
              <a:ext uri="{FF2B5EF4-FFF2-40B4-BE49-F238E27FC236}">
                <a16:creationId xmlns:a16="http://schemas.microsoft.com/office/drawing/2014/main" id="{DCE1ED8F-0DEA-4DB3-84D9-04057691E803}"/>
              </a:ext>
            </a:extLst>
          </p:cNvPr>
          <p:cNvSpPr>
            <a:spLocks noGrp="1"/>
          </p:cNvSpPr>
          <p:nvPr/>
        </p:nvSpPr>
        <p:spPr>
          <a:xfrm>
            <a:off x="9182100" y="2476500"/>
            <a:ext cx="2247900" cy="1390650"/>
          </a:xfrm>
          <a:prstGeom prst="roundRect">
            <a:avLst>
              <a:gd name="adj" fmla="val 5479"/>
            </a:avLst>
          </a:prstGeom>
          <a:solidFill>
            <a:srgbClr val="F6E7E4"/>
          </a:solidFill>
          <a:ln w="0">
            <a:noFill/>
            <a:prstDash val="solid"/>
          </a:ln>
        </p:spPr>
      </p:sp>
      <p:sp>
        <p:nvSpPr>
          <p:cNvPr id="14" name="pipeline-heading-3">
            <a:extLst>
              <a:ext uri="{FF2B5EF4-FFF2-40B4-BE49-F238E27FC236}">
                <a16:creationId xmlns:a16="http://schemas.microsoft.com/office/drawing/2014/main" id="{62A124AA-0D5D-4703-B5CC-275094CD9CE2}"/>
              </a:ext>
            </a:extLst>
          </p:cNvPr>
          <p:cNvSpPr>
            <a:spLocks noGrp="1"/>
          </p:cNvSpPr>
          <p:nvPr/>
        </p:nvSpPr>
        <p:spPr>
          <a:xfrm>
            <a:off x="9353550" y="2724150"/>
            <a:ext cx="1905000" cy="342900"/>
          </a:xfrm>
          <a:prstGeom prst="rect">
            <a:avLst/>
          </a:prstGeom>
          <a:noFill/>
          <a:ln w="0">
            <a:noFill/>
            <a:prstDash val="solid"/>
          </a:ln>
        </p:spPr>
        <p:txBody>
          <a:bodyPr wrap="square" lIns="0" tIns="0" rIns="0" bIns="0" anchor="t">
            <a:normAutofit/>
          </a:bodyPr>
          <a:lstStyle>
            <a:defPPr algn="ctr">
              <a:defRPr sz="1725" b="1">
                <a:solidFill>
                  <a:srgbClr val="102A43"/>
                </a:solidFill>
                <a:latin typeface="Arial"/>
                <a:ea typeface="Arial"/>
                <a:cs typeface="Arial"/>
              </a:defRPr>
            </a:defPPr>
          </a:lstStyle>
          <a:p>
            <a:pPr algn="ctr">
              <a:lnSpc>
                <a:spcPct val="105000"/>
              </a:lnSpc>
              <a:buNone/>
              <a:defRPr sz="1725" b="1">
                <a:solidFill>
                  <a:srgbClr val="102A43"/>
                </a:solidFill>
                <a:latin typeface="Arial"/>
                <a:ea typeface="Arial"/>
                <a:cs typeface="Arial"/>
              </a:defRPr>
            </a:pPr>
            <a:r>
              <a:rPr sz="1725" b="1">
                <a:solidFill>
                  <a:srgbClr val="102A43"/>
                </a:solidFill>
                <a:latin typeface="Arial"/>
                <a:ea typeface="Arial"/>
                <a:cs typeface="Arial"/>
              </a:rPr>
              <a:t>Output</a:t>
            </a:r>
          </a:p>
        </p:txBody>
      </p:sp>
      <p:sp>
        <p:nvSpPr>
          <p:cNvPr id="15" name="pipeline-value-3">
            <a:extLst>
              <a:ext uri="{FF2B5EF4-FFF2-40B4-BE49-F238E27FC236}">
                <a16:creationId xmlns:a16="http://schemas.microsoft.com/office/drawing/2014/main" id="{CD59FF96-A12A-4401-97E2-20EFE26E5F76}"/>
              </a:ext>
            </a:extLst>
          </p:cNvPr>
          <p:cNvSpPr>
            <a:spLocks noGrp="1"/>
          </p:cNvSpPr>
          <p:nvPr/>
        </p:nvSpPr>
        <p:spPr>
          <a:xfrm>
            <a:off x="9353550" y="3238500"/>
            <a:ext cx="1905000" cy="381000"/>
          </a:xfrm>
          <a:prstGeom prst="rect">
            <a:avLst/>
          </a:prstGeom>
          <a:noFill/>
          <a:ln w="0">
            <a:noFill/>
            <a:prstDash val="solid"/>
          </a:ln>
        </p:spPr>
        <p:txBody>
          <a:bodyPr wrap="square" lIns="0" tIns="0" rIns="0" bIns="0" anchor="t">
            <a:normAutofit/>
          </a:bodyPr>
          <a:lstStyle>
            <a:defPPr algn="ctr">
              <a:defRPr sz="1275" b="0">
                <a:solidFill>
                  <a:srgbClr val="526777"/>
                </a:solidFill>
                <a:latin typeface="Arial"/>
                <a:ea typeface="Arial"/>
                <a:cs typeface="Arial"/>
              </a:defRPr>
            </a:defPPr>
          </a:lstStyle>
          <a:p>
            <a:pPr algn="ctr">
              <a:lnSpc>
                <a:spcPct val="105000"/>
              </a:lnSpc>
              <a:buNone/>
              <a:defRPr sz="1275" b="0">
                <a:solidFill>
                  <a:srgbClr val="526777"/>
                </a:solidFill>
                <a:latin typeface="Arial"/>
                <a:ea typeface="Arial"/>
                <a:cs typeface="Arial"/>
              </a:defRPr>
            </a:pPr>
            <a:r>
              <a:rPr sz="1275" b="0">
                <a:solidFill>
                  <a:srgbClr val="526777"/>
                </a:solidFill>
                <a:latin typeface="Arial"/>
                <a:ea typeface="Arial"/>
                <a:cs typeface="Arial"/>
              </a:rPr>
              <a:t>horizontal sensor counts</a:t>
            </a:r>
          </a:p>
        </p:txBody>
      </p:sp>
      <p:sp>
        <p:nvSpPr>
          <p:cNvPr id="16" name="pipeline-arrow-0">
            <a:extLst>
              <a:ext uri="{FF2B5EF4-FFF2-40B4-BE49-F238E27FC236}">
                <a16:creationId xmlns:a16="http://schemas.microsoft.com/office/drawing/2014/main" id="{A9E26F4D-DA92-444B-8ED4-8AE2F3CAD033}"/>
              </a:ext>
            </a:extLst>
          </p:cNvPr>
          <p:cNvSpPr>
            <a:spLocks noGrp="1"/>
          </p:cNvSpPr>
          <p:nvPr/>
        </p:nvSpPr>
        <p:spPr>
          <a:xfrm>
            <a:off x="3048000" y="3171825"/>
            <a:ext cx="352425" cy="0"/>
          </a:xfrm>
          <a:prstGeom prst="line">
            <a:avLst/>
          </a:prstGeom>
          <a:noFill/>
          <a:ln w="19050">
            <a:solidFill>
              <a:srgbClr val="243B53"/>
            </a:solidFill>
            <a:prstDash val="solid"/>
          </a:ln>
        </p:spPr>
      </p:sp>
      <p:sp>
        <p:nvSpPr>
          <p:cNvPr id="17" name="pipeline-arrowhead-0">
            <a:extLst>
              <a:ext uri="{FF2B5EF4-FFF2-40B4-BE49-F238E27FC236}">
                <a16:creationId xmlns:a16="http://schemas.microsoft.com/office/drawing/2014/main" id="{4690516E-3083-4759-8615-BD3C0A62C5B7}"/>
              </a:ext>
            </a:extLst>
          </p:cNvPr>
          <p:cNvSpPr>
            <a:spLocks noGrp="1"/>
          </p:cNvSpPr>
          <p:nvPr/>
        </p:nvSpPr>
        <p:spPr>
          <a:xfrm>
            <a:off x="3314700" y="3095625"/>
            <a:ext cx="152400" cy="152400"/>
          </a:xfrm>
          <a:prstGeom prst="rightArrow">
            <a:avLst/>
          </a:prstGeom>
          <a:solidFill>
            <a:srgbClr val="243B53"/>
          </a:solidFill>
          <a:ln w="0">
            <a:noFill/>
            <a:prstDash val="solid"/>
          </a:ln>
        </p:spPr>
      </p:sp>
      <p:sp>
        <p:nvSpPr>
          <p:cNvPr id="18" name="pipeline-arrow-1">
            <a:extLst>
              <a:ext uri="{FF2B5EF4-FFF2-40B4-BE49-F238E27FC236}">
                <a16:creationId xmlns:a16="http://schemas.microsoft.com/office/drawing/2014/main" id="{94EB9074-817E-43DA-B382-479919119E36}"/>
              </a:ext>
            </a:extLst>
          </p:cNvPr>
          <p:cNvSpPr>
            <a:spLocks noGrp="1"/>
          </p:cNvSpPr>
          <p:nvPr/>
        </p:nvSpPr>
        <p:spPr>
          <a:xfrm>
            <a:off x="5772150" y="3171825"/>
            <a:ext cx="352425" cy="0"/>
          </a:xfrm>
          <a:prstGeom prst="line">
            <a:avLst/>
          </a:prstGeom>
          <a:noFill/>
          <a:ln w="19050">
            <a:solidFill>
              <a:srgbClr val="243B53"/>
            </a:solidFill>
            <a:prstDash val="solid"/>
          </a:ln>
        </p:spPr>
      </p:sp>
      <p:sp>
        <p:nvSpPr>
          <p:cNvPr id="19" name="pipeline-arrowhead-1">
            <a:extLst>
              <a:ext uri="{FF2B5EF4-FFF2-40B4-BE49-F238E27FC236}">
                <a16:creationId xmlns:a16="http://schemas.microsoft.com/office/drawing/2014/main" id="{FCB7D81F-D726-4833-8DE9-07D1F21BA6F3}"/>
              </a:ext>
            </a:extLst>
          </p:cNvPr>
          <p:cNvSpPr>
            <a:spLocks noGrp="1"/>
          </p:cNvSpPr>
          <p:nvPr/>
        </p:nvSpPr>
        <p:spPr>
          <a:xfrm>
            <a:off x="6038850" y="3095625"/>
            <a:ext cx="152400" cy="152400"/>
          </a:xfrm>
          <a:prstGeom prst="rightArrow">
            <a:avLst/>
          </a:prstGeom>
          <a:solidFill>
            <a:srgbClr val="243B53"/>
          </a:solidFill>
          <a:ln w="0">
            <a:noFill/>
            <a:prstDash val="solid"/>
          </a:ln>
        </p:spPr>
      </p:sp>
      <p:sp>
        <p:nvSpPr>
          <p:cNvPr id="20" name="pipeline-arrow-2">
            <a:extLst>
              <a:ext uri="{FF2B5EF4-FFF2-40B4-BE49-F238E27FC236}">
                <a16:creationId xmlns:a16="http://schemas.microsoft.com/office/drawing/2014/main" id="{766DA046-8B61-48B8-8EE6-7F83561CF0BE}"/>
              </a:ext>
            </a:extLst>
          </p:cNvPr>
          <p:cNvSpPr>
            <a:spLocks noGrp="1"/>
          </p:cNvSpPr>
          <p:nvPr/>
        </p:nvSpPr>
        <p:spPr>
          <a:xfrm>
            <a:off x="8724900" y="3171825"/>
            <a:ext cx="352425" cy="0"/>
          </a:xfrm>
          <a:prstGeom prst="line">
            <a:avLst/>
          </a:prstGeom>
          <a:noFill/>
          <a:ln w="19050">
            <a:solidFill>
              <a:srgbClr val="243B53"/>
            </a:solidFill>
            <a:prstDash val="solid"/>
          </a:ln>
        </p:spPr>
      </p:sp>
      <p:sp>
        <p:nvSpPr>
          <p:cNvPr id="21" name="pipeline-arrowhead-2">
            <a:extLst>
              <a:ext uri="{FF2B5EF4-FFF2-40B4-BE49-F238E27FC236}">
                <a16:creationId xmlns:a16="http://schemas.microsoft.com/office/drawing/2014/main" id="{712FD4D8-1E17-4FBB-8433-358A94DD4532}"/>
              </a:ext>
            </a:extLst>
          </p:cNvPr>
          <p:cNvSpPr>
            <a:spLocks noGrp="1"/>
          </p:cNvSpPr>
          <p:nvPr/>
        </p:nvSpPr>
        <p:spPr>
          <a:xfrm>
            <a:off x="8991600" y="3095625"/>
            <a:ext cx="152400" cy="152400"/>
          </a:xfrm>
          <a:prstGeom prst="rightArrow">
            <a:avLst/>
          </a:prstGeom>
          <a:solidFill>
            <a:srgbClr val="243B53"/>
          </a:solidFill>
          <a:ln w="0">
            <a:noFill/>
            <a:prstDash val="solid"/>
          </a:ln>
        </p:spPr>
      </p:sp>
      <p:sp>
        <p:nvSpPr>
          <p:cNvPr id="22" name="force-definition">
            <a:extLst>
              <a:ext uri="{FF2B5EF4-FFF2-40B4-BE49-F238E27FC236}">
                <a16:creationId xmlns:a16="http://schemas.microsoft.com/office/drawing/2014/main" id="{B2FDC7DC-64A1-4ED6-8633-58AA7B76FFC4}"/>
              </a:ext>
            </a:extLst>
          </p:cNvPr>
          <p:cNvSpPr>
            <a:spLocks noGrp="1"/>
          </p:cNvSpPr>
          <p:nvPr/>
        </p:nvSpPr>
        <p:spPr>
          <a:xfrm>
            <a:off x="1009650" y="4429125"/>
            <a:ext cx="10001250" cy="590550"/>
          </a:xfrm>
          <a:prstGeom prst="rect">
            <a:avLst/>
          </a:prstGeom>
          <a:noFill/>
          <a:ln w="0">
            <a:noFill/>
            <a:prstDash val="solid"/>
          </a:ln>
        </p:spPr>
        <p:txBody>
          <a:bodyPr wrap="square" lIns="0" tIns="0" rIns="0" bIns="0" anchor="t">
            <a:normAutofit/>
          </a:bodyPr>
          <a:lstStyle>
            <a:defPPr algn="ctr">
              <a:defRPr sz="1650" b="1">
                <a:solidFill>
                  <a:srgbClr val="102A43"/>
                </a:solidFill>
                <a:latin typeface="Arial"/>
                <a:ea typeface="Arial"/>
                <a:cs typeface="Arial"/>
              </a:defRPr>
            </a:defPPr>
          </a:lstStyle>
          <a:p>
            <a:pPr algn="ctr">
              <a:lnSpc>
                <a:spcPct val="105000"/>
              </a:lnSpc>
              <a:buNone/>
              <a:defRPr sz="1650" b="1">
                <a:solidFill>
                  <a:srgbClr val="102A43"/>
                </a:solidFill>
                <a:latin typeface="Arial"/>
                <a:ea typeface="Arial"/>
                <a:cs typeface="Arial"/>
              </a:defRPr>
            </a:pPr>
            <a:r>
              <a:rPr sz="1650" b="1">
                <a:solidFill>
                  <a:srgbClr val="102A43"/>
                </a:solidFill>
                <a:latin typeface="Arial"/>
                <a:ea typeface="Arial"/>
                <a:cs typeface="Arial"/>
              </a:rPr>
              <a:t>Pulling response = sign-corrected mean of the two opposing horizontal readings (modules 1 and 3).</a:t>
            </a:r>
          </a:p>
        </p:txBody>
      </p:sp>
      <p:sp>
        <p:nvSpPr>
          <p:cNvPr id="23" name="units-note">
            <a:extLst>
              <a:ext uri="{FF2B5EF4-FFF2-40B4-BE49-F238E27FC236}">
                <a16:creationId xmlns:a16="http://schemas.microsoft.com/office/drawing/2014/main" id="{DFE98929-96BA-41AE-A3C3-2A0BFDBB32AE}"/>
              </a:ext>
            </a:extLst>
          </p:cNvPr>
          <p:cNvSpPr>
            <a:spLocks noGrp="1"/>
          </p:cNvSpPr>
          <p:nvPr/>
        </p:nvSpPr>
        <p:spPr>
          <a:xfrm>
            <a:off x="1771650" y="5314950"/>
            <a:ext cx="8648700" cy="533400"/>
          </a:xfrm>
          <a:prstGeom prst="roundRect">
            <a:avLst>
              <a:gd name="adj" fmla="val 14286"/>
            </a:avLst>
          </a:prstGeom>
          <a:solidFill>
            <a:srgbClr val="FFF2D5"/>
          </a:solidFill>
          <a:ln w="0">
            <a:noFill/>
            <a:prstDash val="solid"/>
          </a:ln>
        </p:spPr>
      </p:sp>
      <p:sp>
        <p:nvSpPr>
          <p:cNvPr id="24" name="units-note-text">
            <a:extLst>
              <a:ext uri="{FF2B5EF4-FFF2-40B4-BE49-F238E27FC236}">
                <a16:creationId xmlns:a16="http://schemas.microsoft.com/office/drawing/2014/main" id="{F9B5DF5E-A2BF-40DC-BAAD-D18314ACE2C9}"/>
              </a:ext>
            </a:extLst>
          </p:cNvPr>
          <p:cNvSpPr>
            <a:spLocks noGrp="1"/>
          </p:cNvSpPr>
          <p:nvPr/>
        </p:nvSpPr>
        <p:spPr>
          <a:xfrm>
            <a:off x="2000250" y="5429250"/>
            <a:ext cx="8191500" cy="342900"/>
          </a:xfrm>
          <a:prstGeom prst="rect">
            <a:avLst/>
          </a:prstGeom>
          <a:noFill/>
          <a:ln w="0">
            <a:noFill/>
            <a:prstDash val="solid"/>
          </a:ln>
        </p:spPr>
        <p:txBody>
          <a:bodyPr wrap="square" lIns="0" tIns="0" rIns="0" bIns="0" anchor="ctr">
            <a:normAutofit fontScale="91534" lnSpcReduction="20000"/>
          </a:bodyPr>
          <a:lstStyle>
            <a:defPPr algn="ctr">
              <a:defRPr sz="1275" b="0">
                <a:solidFill>
                  <a:srgbClr val="243B53"/>
                </a:solidFill>
                <a:latin typeface="Arial"/>
                <a:ea typeface="Arial"/>
                <a:cs typeface="Arial"/>
              </a:defRPr>
            </a:defPPr>
          </a:lstStyle>
          <a:p>
            <a:pPr algn="ctr">
              <a:lnSpc>
                <a:spcPct val="105000"/>
              </a:lnSpc>
              <a:buNone/>
              <a:defRPr sz="1275" b="0">
                <a:solidFill>
                  <a:srgbClr val="243B53"/>
                </a:solidFill>
                <a:latin typeface="Arial"/>
                <a:ea typeface="Arial"/>
                <a:cs typeface="Arial"/>
              </a:defRPr>
            </a:pPr>
            <a:r>
              <a:rPr sz="1275" b="0">
                <a:solidFill>
                  <a:srgbClr val="243B53"/>
                </a:solidFill>
                <a:latin typeface="Arial"/>
                <a:ea typeface="Arial"/>
                <a:cs typeface="Arial"/>
              </a:rPr>
              <a:t>Important: target remains in raw sensor counts. The downloadable archive does not include the load-cell calibration factors needed to report newtons.</a:t>
            </a:r>
          </a:p>
        </p:txBody>
      </p:sp>
    </p:spTree>
    <p:extLst>
      <p:ext uri="{BB962C8B-B14F-4D97-AF65-F5344CB8AC3E}">
        <p14:creationId xmlns:p14="http://schemas.microsoft.com/office/powerpoint/2010/main" val="552115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slide-title">
            <a:extLst>
              <a:ext uri="{FF2B5EF4-FFF2-40B4-BE49-F238E27FC236}">
                <a16:creationId xmlns:a16="http://schemas.microsoft.com/office/drawing/2014/main" id="{35E63C4F-F182-47FD-AB6C-D3EAC9B1BBC2}"/>
              </a:ext>
            </a:extLst>
          </p:cNvPr>
          <p:cNvSpPr>
            <a:spLocks noGrp="1"/>
          </p:cNvSpPr>
          <p:nvPr/>
        </p:nvSpPr>
        <p:spPr>
          <a:xfrm>
            <a:off x="685800" y="457200"/>
            <a:ext cx="10820400" cy="552450"/>
          </a:xfrm>
          <a:prstGeom prst="rect">
            <a:avLst/>
          </a:prstGeom>
          <a:noFill/>
          <a:ln w="0">
            <a:noFill/>
            <a:prstDash val="solid"/>
          </a:ln>
        </p:spPr>
        <p:txBody>
          <a:bodyPr wrap="square" lIns="0" tIns="0" rIns="0" bIns="0" anchor="t">
            <a:normAutofit/>
          </a:bodyPr>
          <a:lstStyle>
            <a:defPPr algn="l">
              <a:defRPr sz="3000" b="1">
                <a:solidFill>
                  <a:srgbClr val="102A43"/>
                </a:solidFill>
                <a:latin typeface="Arial"/>
                <a:ea typeface="Arial"/>
                <a:cs typeface="Arial"/>
              </a:defRPr>
            </a:defPPr>
          </a:lstStyle>
          <a:p>
            <a:pPr algn="l">
              <a:lnSpc>
                <a:spcPct val="105000"/>
              </a:lnSpc>
              <a:buNone/>
              <a:defRPr sz="3000" b="1">
                <a:solidFill>
                  <a:srgbClr val="102A43"/>
                </a:solidFill>
                <a:latin typeface="Arial"/>
                <a:ea typeface="Arial"/>
                <a:cs typeface="Arial"/>
              </a:defRPr>
            </a:pPr>
            <a:r>
              <a:rPr sz="3000" b="1">
                <a:solidFill>
                  <a:srgbClr val="102A43"/>
                </a:solidFill>
                <a:latin typeface="Arial"/>
                <a:ea typeface="Arial"/>
                <a:cs typeface="Arial"/>
              </a:rPr>
              <a:t>Leave-one-pressure-level-out validation</a:t>
            </a:r>
          </a:p>
        </p:txBody>
      </p:sp>
      <p:sp>
        <p:nvSpPr>
          <p:cNvPr id="2" name="slide-subtitle">
            <a:extLst>
              <a:ext uri="{FF2B5EF4-FFF2-40B4-BE49-F238E27FC236}">
                <a16:creationId xmlns:a16="http://schemas.microsoft.com/office/drawing/2014/main" id="{E51AB9EF-D629-497A-B5A2-DDCA177E6574}"/>
              </a:ext>
            </a:extLst>
          </p:cNvPr>
          <p:cNvSpPr>
            <a:spLocks noGrp="1"/>
          </p:cNvSpPr>
          <p:nvPr/>
        </p:nvSpPr>
        <p:spPr>
          <a:xfrm>
            <a:off x="704850" y="1047750"/>
            <a:ext cx="10477500" cy="400050"/>
          </a:xfrm>
          <a:prstGeom prst="rect">
            <a:avLst/>
          </a:prstGeom>
          <a:noFill/>
          <a:ln w="0">
            <a:noFill/>
            <a:prstDash val="solid"/>
          </a:ln>
        </p:spPr>
        <p:txBody>
          <a:bodyPr wrap="square" lIns="0" tIns="0" rIns="0" bIns="0" anchor="t">
            <a:normAutofit/>
          </a:bodyPr>
          <a:lstStyle>
            <a:defPPr algn="l">
              <a:defRPr sz="1575" b="0">
                <a:solidFill>
                  <a:srgbClr val="526777"/>
                </a:solidFill>
                <a:latin typeface="Arial"/>
                <a:ea typeface="Arial"/>
                <a:cs typeface="Arial"/>
              </a:defRPr>
            </a:defPPr>
          </a:lstStyle>
          <a:p>
            <a:pPr algn="l">
              <a:lnSpc>
                <a:spcPct val="105000"/>
              </a:lnSpc>
              <a:buNone/>
              <a:defRPr sz="1575" b="0">
                <a:solidFill>
                  <a:srgbClr val="526777"/>
                </a:solidFill>
                <a:latin typeface="Arial"/>
                <a:ea typeface="Arial"/>
                <a:cs typeface="Arial"/>
              </a:defRPr>
            </a:pPr>
            <a:r>
              <a:rPr sz="1575" b="0">
                <a:solidFill>
                  <a:srgbClr val="526777"/>
                </a:solidFill>
                <a:latin typeface="Arial"/>
                <a:ea typeface="Arial"/>
                <a:cs typeface="Arial"/>
              </a:rPr>
              <a:t>All trials at one pressure setting are held out together for each fold</a:t>
            </a:r>
          </a:p>
        </p:txBody>
      </p:sp>
      <p:sp>
        <p:nvSpPr>
          <p:cNvPr id="3" name="title-rule">
            <a:extLst>
              <a:ext uri="{FF2B5EF4-FFF2-40B4-BE49-F238E27FC236}">
                <a16:creationId xmlns:a16="http://schemas.microsoft.com/office/drawing/2014/main" id="{998A5C71-9A28-4DDC-9BA8-CD1487151FA2}"/>
              </a:ext>
            </a:extLst>
          </p:cNvPr>
          <p:cNvSpPr>
            <a:spLocks noGrp="1"/>
          </p:cNvSpPr>
          <p:nvPr/>
        </p:nvSpPr>
        <p:spPr>
          <a:xfrm>
            <a:off x="685800" y="1543050"/>
            <a:ext cx="704850" cy="47625"/>
          </a:xfrm>
          <a:prstGeom prst="rect">
            <a:avLst/>
          </a:prstGeom>
          <a:solidFill>
            <a:srgbClr val="EF8354"/>
          </a:solidFill>
          <a:ln w="0">
            <a:noFill/>
            <a:prstDash val="solid"/>
          </a:ln>
        </p:spPr>
      </p:sp>
      <p:sp>
        <p:nvSpPr>
          <p:cNvPr id="4" name="split-protocol-label">
            <a:extLst>
              <a:ext uri="{FF2B5EF4-FFF2-40B4-BE49-F238E27FC236}">
                <a16:creationId xmlns:a16="http://schemas.microsoft.com/office/drawing/2014/main" id="{9690EC5E-2226-4184-AE1E-3E31E8D6D272}"/>
              </a:ext>
            </a:extLst>
          </p:cNvPr>
          <p:cNvSpPr>
            <a:spLocks noGrp="1"/>
          </p:cNvSpPr>
          <p:nvPr/>
        </p:nvSpPr>
        <p:spPr>
          <a:xfrm>
            <a:off x="857250" y="2324100"/>
            <a:ext cx="1524000" cy="266700"/>
          </a:xfrm>
          <a:prstGeom prst="rect">
            <a:avLst/>
          </a:prstGeom>
          <a:noFill/>
          <a:ln w="0">
            <a:noFill/>
            <a:prstDash val="solid"/>
          </a:ln>
        </p:spPr>
        <p:txBody>
          <a:bodyPr wrap="square" lIns="0" tIns="0" rIns="0" bIns="0" anchor="t">
            <a:normAutofit/>
          </a:bodyPr>
          <a:lstStyle>
            <a:defPPr algn="l">
              <a:defRPr sz="1200" b="1">
                <a:solidFill>
                  <a:srgbClr val="168E92"/>
                </a:solidFill>
                <a:latin typeface="Arial"/>
                <a:ea typeface="Arial"/>
                <a:cs typeface="Arial"/>
              </a:defRPr>
            </a:defPPr>
          </a:lstStyle>
          <a:p>
            <a:pPr algn="l">
              <a:lnSpc>
                <a:spcPct val="105000"/>
              </a:lnSpc>
              <a:buNone/>
              <a:defRPr sz="1200" b="1">
                <a:solidFill>
                  <a:srgbClr val="168E92"/>
                </a:solidFill>
                <a:latin typeface="Arial"/>
                <a:ea typeface="Arial"/>
                <a:cs typeface="Arial"/>
              </a:defRPr>
            </a:pPr>
            <a:r>
              <a:rPr sz="1200" b="1">
                <a:solidFill>
                  <a:srgbClr val="168E92"/>
                </a:solidFill>
                <a:latin typeface="Arial"/>
                <a:ea typeface="Arial"/>
                <a:cs typeface="Arial"/>
              </a:rPr>
              <a:t>ONE FOLD</a:t>
            </a:r>
          </a:p>
        </p:txBody>
      </p:sp>
      <p:sp>
        <p:nvSpPr>
          <p:cNvPr id="5" name="pressure-mark-0">
            <a:extLst>
              <a:ext uri="{FF2B5EF4-FFF2-40B4-BE49-F238E27FC236}">
                <a16:creationId xmlns:a16="http://schemas.microsoft.com/office/drawing/2014/main" id="{27504BD7-3302-4F89-BB04-89C12B17811D}"/>
              </a:ext>
            </a:extLst>
          </p:cNvPr>
          <p:cNvSpPr>
            <a:spLocks noGrp="1"/>
          </p:cNvSpPr>
          <p:nvPr/>
        </p:nvSpPr>
        <p:spPr>
          <a:xfrm>
            <a:off x="857250" y="2724150"/>
            <a:ext cx="990600" cy="742950"/>
          </a:xfrm>
          <a:prstGeom prst="roundRect">
            <a:avLst>
              <a:gd name="adj" fmla="val 10256"/>
            </a:avLst>
          </a:prstGeom>
          <a:solidFill>
            <a:srgbClr val="D9F0EC"/>
          </a:solidFill>
          <a:ln w="0">
            <a:noFill/>
            <a:prstDash val="solid"/>
          </a:ln>
        </p:spPr>
      </p:sp>
      <p:sp>
        <p:nvSpPr>
          <p:cNvPr id="6" name="pressure-value-0">
            <a:extLst>
              <a:ext uri="{FF2B5EF4-FFF2-40B4-BE49-F238E27FC236}">
                <a16:creationId xmlns:a16="http://schemas.microsoft.com/office/drawing/2014/main" id="{ECB40ED3-C6E0-4716-A8D2-FE077FAF111A}"/>
              </a:ext>
            </a:extLst>
          </p:cNvPr>
          <p:cNvSpPr>
            <a:spLocks noGrp="1"/>
          </p:cNvSpPr>
          <p:nvPr/>
        </p:nvSpPr>
        <p:spPr>
          <a:xfrm>
            <a:off x="857250" y="2886075"/>
            <a:ext cx="990600" cy="285750"/>
          </a:xfrm>
          <a:prstGeom prst="rect">
            <a:avLst/>
          </a:prstGeom>
          <a:noFill/>
          <a:ln w="0">
            <a:noFill/>
            <a:prstDash val="solid"/>
          </a:ln>
        </p:spPr>
        <p:txBody>
          <a:bodyPr wrap="square" lIns="0" tIns="0" rIns="0" bIns="0" anchor="t">
            <a:normAutofit fontScale="99075"/>
          </a:bodyPr>
          <a:lstStyle>
            <a:defPPr algn="ctr">
              <a:defRPr sz="1950" b="1">
                <a:solidFill>
                  <a:srgbClr val="168E92"/>
                </a:solidFill>
                <a:latin typeface="Arial"/>
                <a:ea typeface="Arial"/>
                <a:cs typeface="Arial"/>
              </a:defRPr>
            </a:defPPr>
          </a:lstStyle>
          <a:p>
            <a:pPr algn="ctr">
              <a:lnSpc>
                <a:spcPct val="105000"/>
              </a:lnSpc>
              <a:buNone/>
              <a:defRPr sz="1950" b="1">
                <a:solidFill>
                  <a:srgbClr val="168E92"/>
                </a:solidFill>
                <a:latin typeface="Arial"/>
                <a:ea typeface="Arial"/>
                <a:cs typeface="Arial"/>
              </a:defRPr>
            </a:pPr>
            <a:r>
              <a:rPr sz="1950" b="1">
                <a:solidFill>
                  <a:srgbClr val="168E92"/>
                </a:solidFill>
                <a:latin typeface="Arial"/>
                <a:ea typeface="Arial"/>
                <a:cs typeface="Arial"/>
              </a:rPr>
              <a:t>0</a:t>
            </a:r>
          </a:p>
        </p:txBody>
      </p:sp>
      <p:sp>
        <p:nvSpPr>
          <p:cNvPr id="7" name="pressure-unit-0">
            <a:extLst>
              <a:ext uri="{FF2B5EF4-FFF2-40B4-BE49-F238E27FC236}">
                <a16:creationId xmlns:a16="http://schemas.microsoft.com/office/drawing/2014/main" id="{2E65E83B-4148-4FE9-86DA-5B4A40ECCC65}"/>
              </a:ext>
            </a:extLst>
          </p:cNvPr>
          <p:cNvSpPr>
            <a:spLocks noGrp="1"/>
          </p:cNvSpPr>
          <p:nvPr/>
        </p:nvSpPr>
        <p:spPr>
          <a:xfrm>
            <a:off x="857250" y="3181350"/>
            <a:ext cx="990600" cy="190500"/>
          </a:xfrm>
          <a:prstGeom prst="rect">
            <a:avLst/>
          </a:prstGeom>
          <a:noFill/>
          <a:ln w="0">
            <a:noFill/>
            <a:prstDash val="solid"/>
          </a:ln>
        </p:spPr>
        <p:txBody>
          <a:bodyPr wrap="square" lIns="0" tIns="0" rIns="0" bIns="0" anchor="t">
            <a:normAutofit/>
          </a:bodyPr>
          <a:lstStyle>
            <a:defPPr algn="ctr">
              <a:defRPr sz="1125" b="0">
                <a:solidFill>
                  <a:srgbClr val="526777"/>
                </a:solidFill>
                <a:latin typeface="Arial"/>
                <a:ea typeface="Arial"/>
                <a:cs typeface="Arial"/>
              </a:defRPr>
            </a:defPPr>
          </a:lstStyle>
          <a:p>
            <a:pPr algn="ctr">
              <a:lnSpc>
                <a:spcPct val="105000"/>
              </a:lnSpc>
              <a:buNone/>
              <a:defRPr sz="1125" b="0">
                <a:solidFill>
                  <a:srgbClr val="526777"/>
                </a:solidFill>
                <a:latin typeface="Arial"/>
                <a:ea typeface="Arial"/>
                <a:cs typeface="Arial"/>
              </a:defRPr>
            </a:pPr>
            <a:r>
              <a:rPr sz="1125" b="0">
                <a:solidFill>
                  <a:srgbClr val="526777"/>
                </a:solidFill>
                <a:latin typeface="Arial"/>
                <a:ea typeface="Arial"/>
                <a:cs typeface="Arial"/>
              </a:rPr>
              <a:t>kPa</a:t>
            </a:r>
          </a:p>
        </p:txBody>
      </p:sp>
      <p:sp>
        <p:nvSpPr>
          <p:cNvPr id="8" name="pressure-mark-25">
            <a:extLst>
              <a:ext uri="{FF2B5EF4-FFF2-40B4-BE49-F238E27FC236}">
                <a16:creationId xmlns:a16="http://schemas.microsoft.com/office/drawing/2014/main" id="{A6BD6092-D1EE-4527-A458-CAA20A978A1E}"/>
              </a:ext>
            </a:extLst>
          </p:cNvPr>
          <p:cNvSpPr>
            <a:spLocks noGrp="1"/>
          </p:cNvSpPr>
          <p:nvPr/>
        </p:nvSpPr>
        <p:spPr>
          <a:xfrm>
            <a:off x="2066925" y="2724150"/>
            <a:ext cx="990600" cy="742950"/>
          </a:xfrm>
          <a:prstGeom prst="roundRect">
            <a:avLst>
              <a:gd name="adj" fmla="val 10256"/>
            </a:avLst>
          </a:prstGeom>
          <a:solidFill>
            <a:srgbClr val="D9F0EC"/>
          </a:solidFill>
          <a:ln w="0">
            <a:noFill/>
            <a:prstDash val="solid"/>
          </a:ln>
        </p:spPr>
      </p:sp>
      <p:sp>
        <p:nvSpPr>
          <p:cNvPr id="9" name="pressure-value-25">
            <a:extLst>
              <a:ext uri="{FF2B5EF4-FFF2-40B4-BE49-F238E27FC236}">
                <a16:creationId xmlns:a16="http://schemas.microsoft.com/office/drawing/2014/main" id="{14391FEF-1093-4F8F-A6AF-55C1048F1DEF}"/>
              </a:ext>
            </a:extLst>
          </p:cNvPr>
          <p:cNvSpPr>
            <a:spLocks noGrp="1"/>
          </p:cNvSpPr>
          <p:nvPr/>
        </p:nvSpPr>
        <p:spPr>
          <a:xfrm>
            <a:off x="2066925" y="2886075"/>
            <a:ext cx="990600" cy="285750"/>
          </a:xfrm>
          <a:prstGeom prst="rect">
            <a:avLst/>
          </a:prstGeom>
          <a:noFill/>
          <a:ln w="0">
            <a:noFill/>
            <a:prstDash val="solid"/>
          </a:ln>
        </p:spPr>
        <p:txBody>
          <a:bodyPr wrap="square" lIns="0" tIns="0" rIns="0" bIns="0" anchor="t">
            <a:normAutofit fontScale="99075"/>
          </a:bodyPr>
          <a:lstStyle>
            <a:defPPr algn="ctr">
              <a:defRPr sz="1950" b="1">
                <a:solidFill>
                  <a:srgbClr val="168E92"/>
                </a:solidFill>
                <a:latin typeface="Arial"/>
                <a:ea typeface="Arial"/>
                <a:cs typeface="Arial"/>
              </a:defRPr>
            </a:defPPr>
          </a:lstStyle>
          <a:p>
            <a:pPr algn="ctr">
              <a:lnSpc>
                <a:spcPct val="105000"/>
              </a:lnSpc>
              <a:buNone/>
              <a:defRPr sz="1950" b="1">
                <a:solidFill>
                  <a:srgbClr val="168E92"/>
                </a:solidFill>
                <a:latin typeface="Arial"/>
                <a:ea typeface="Arial"/>
                <a:cs typeface="Arial"/>
              </a:defRPr>
            </a:pPr>
            <a:r>
              <a:rPr sz="1950" b="1">
                <a:solidFill>
                  <a:srgbClr val="168E92"/>
                </a:solidFill>
                <a:latin typeface="Arial"/>
                <a:ea typeface="Arial"/>
                <a:cs typeface="Arial"/>
              </a:rPr>
              <a:t>25</a:t>
            </a:r>
          </a:p>
        </p:txBody>
      </p:sp>
      <p:sp>
        <p:nvSpPr>
          <p:cNvPr id="10" name="pressure-unit-25">
            <a:extLst>
              <a:ext uri="{FF2B5EF4-FFF2-40B4-BE49-F238E27FC236}">
                <a16:creationId xmlns:a16="http://schemas.microsoft.com/office/drawing/2014/main" id="{A546001A-49AF-433F-AF0E-E2AF8353C14A}"/>
              </a:ext>
            </a:extLst>
          </p:cNvPr>
          <p:cNvSpPr>
            <a:spLocks noGrp="1"/>
          </p:cNvSpPr>
          <p:nvPr/>
        </p:nvSpPr>
        <p:spPr>
          <a:xfrm>
            <a:off x="2066925" y="3181350"/>
            <a:ext cx="990600" cy="190500"/>
          </a:xfrm>
          <a:prstGeom prst="rect">
            <a:avLst/>
          </a:prstGeom>
          <a:noFill/>
          <a:ln w="0">
            <a:noFill/>
            <a:prstDash val="solid"/>
          </a:ln>
        </p:spPr>
        <p:txBody>
          <a:bodyPr wrap="square" lIns="0" tIns="0" rIns="0" bIns="0" anchor="t">
            <a:normAutofit/>
          </a:bodyPr>
          <a:lstStyle>
            <a:defPPr algn="ctr">
              <a:defRPr sz="1125" b="0">
                <a:solidFill>
                  <a:srgbClr val="526777"/>
                </a:solidFill>
                <a:latin typeface="Arial"/>
                <a:ea typeface="Arial"/>
                <a:cs typeface="Arial"/>
              </a:defRPr>
            </a:defPPr>
          </a:lstStyle>
          <a:p>
            <a:pPr algn="ctr">
              <a:lnSpc>
                <a:spcPct val="105000"/>
              </a:lnSpc>
              <a:buNone/>
              <a:defRPr sz="1125" b="0">
                <a:solidFill>
                  <a:srgbClr val="526777"/>
                </a:solidFill>
                <a:latin typeface="Arial"/>
                <a:ea typeface="Arial"/>
                <a:cs typeface="Arial"/>
              </a:defRPr>
            </a:pPr>
            <a:r>
              <a:rPr sz="1125" b="0">
                <a:solidFill>
                  <a:srgbClr val="526777"/>
                </a:solidFill>
                <a:latin typeface="Arial"/>
                <a:ea typeface="Arial"/>
                <a:cs typeface="Arial"/>
              </a:rPr>
              <a:t>kPa</a:t>
            </a:r>
          </a:p>
        </p:txBody>
      </p:sp>
      <p:sp>
        <p:nvSpPr>
          <p:cNvPr id="11" name="pressure-mark-50">
            <a:extLst>
              <a:ext uri="{FF2B5EF4-FFF2-40B4-BE49-F238E27FC236}">
                <a16:creationId xmlns:a16="http://schemas.microsoft.com/office/drawing/2014/main" id="{3C0DD82E-F95A-4F5D-BBA1-A906B637C84F}"/>
              </a:ext>
            </a:extLst>
          </p:cNvPr>
          <p:cNvSpPr>
            <a:spLocks noGrp="1"/>
          </p:cNvSpPr>
          <p:nvPr/>
        </p:nvSpPr>
        <p:spPr>
          <a:xfrm>
            <a:off x="3276600" y="2724150"/>
            <a:ext cx="990600" cy="742950"/>
          </a:xfrm>
          <a:prstGeom prst="roundRect">
            <a:avLst>
              <a:gd name="adj" fmla="val 10256"/>
            </a:avLst>
          </a:prstGeom>
          <a:solidFill>
            <a:srgbClr val="D9F0EC"/>
          </a:solidFill>
          <a:ln w="0">
            <a:noFill/>
            <a:prstDash val="solid"/>
          </a:ln>
        </p:spPr>
      </p:sp>
      <p:sp>
        <p:nvSpPr>
          <p:cNvPr id="12" name="pressure-value-50">
            <a:extLst>
              <a:ext uri="{FF2B5EF4-FFF2-40B4-BE49-F238E27FC236}">
                <a16:creationId xmlns:a16="http://schemas.microsoft.com/office/drawing/2014/main" id="{208D3090-523F-46AF-8501-82A235A6521D}"/>
              </a:ext>
            </a:extLst>
          </p:cNvPr>
          <p:cNvSpPr>
            <a:spLocks noGrp="1"/>
          </p:cNvSpPr>
          <p:nvPr/>
        </p:nvSpPr>
        <p:spPr>
          <a:xfrm>
            <a:off x="3276600" y="2886075"/>
            <a:ext cx="990600" cy="285750"/>
          </a:xfrm>
          <a:prstGeom prst="rect">
            <a:avLst/>
          </a:prstGeom>
          <a:noFill/>
          <a:ln w="0">
            <a:noFill/>
            <a:prstDash val="solid"/>
          </a:ln>
        </p:spPr>
        <p:txBody>
          <a:bodyPr wrap="square" lIns="0" tIns="0" rIns="0" bIns="0" anchor="t">
            <a:normAutofit fontScale="99075"/>
          </a:bodyPr>
          <a:lstStyle>
            <a:defPPr algn="ctr">
              <a:defRPr sz="1950" b="1">
                <a:solidFill>
                  <a:srgbClr val="168E92"/>
                </a:solidFill>
                <a:latin typeface="Arial"/>
                <a:ea typeface="Arial"/>
                <a:cs typeface="Arial"/>
              </a:defRPr>
            </a:defPPr>
          </a:lstStyle>
          <a:p>
            <a:pPr algn="ctr">
              <a:lnSpc>
                <a:spcPct val="105000"/>
              </a:lnSpc>
              <a:buNone/>
              <a:defRPr sz="1950" b="1">
                <a:solidFill>
                  <a:srgbClr val="168E92"/>
                </a:solidFill>
                <a:latin typeface="Arial"/>
                <a:ea typeface="Arial"/>
                <a:cs typeface="Arial"/>
              </a:defRPr>
            </a:pPr>
            <a:r>
              <a:rPr sz="1950" b="1">
                <a:solidFill>
                  <a:srgbClr val="168E92"/>
                </a:solidFill>
                <a:latin typeface="Arial"/>
                <a:ea typeface="Arial"/>
                <a:cs typeface="Arial"/>
              </a:rPr>
              <a:t>50</a:t>
            </a:r>
          </a:p>
        </p:txBody>
      </p:sp>
      <p:sp>
        <p:nvSpPr>
          <p:cNvPr id="13" name="pressure-unit-50">
            <a:extLst>
              <a:ext uri="{FF2B5EF4-FFF2-40B4-BE49-F238E27FC236}">
                <a16:creationId xmlns:a16="http://schemas.microsoft.com/office/drawing/2014/main" id="{0AAF29C0-B082-422B-9D23-DABB916BE273}"/>
              </a:ext>
            </a:extLst>
          </p:cNvPr>
          <p:cNvSpPr>
            <a:spLocks noGrp="1"/>
          </p:cNvSpPr>
          <p:nvPr/>
        </p:nvSpPr>
        <p:spPr>
          <a:xfrm>
            <a:off x="3276600" y="3181350"/>
            <a:ext cx="990600" cy="190500"/>
          </a:xfrm>
          <a:prstGeom prst="rect">
            <a:avLst/>
          </a:prstGeom>
          <a:noFill/>
          <a:ln w="0">
            <a:noFill/>
            <a:prstDash val="solid"/>
          </a:ln>
        </p:spPr>
        <p:txBody>
          <a:bodyPr wrap="square" lIns="0" tIns="0" rIns="0" bIns="0" anchor="t">
            <a:normAutofit/>
          </a:bodyPr>
          <a:lstStyle>
            <a:defPPr algn="ctr">
              <a:defRPr sz="1125" b="0">
                <a:solidFill>
                  <a:srgbClr val="526777"/>
                </a:solidFill>
                <a:latin typeface="Arial"/>
                <a:ea typeface="Arial"/>
                <a:cs typeface="Arial"/>
              </a:defRPr>
            </a:defPPr>
          </a:lstStyle>
          <a:p>
            <a:pPr algn="ctr">
              <a:lnSpc>
                <a:spcPct val="105000"/>
              </a:lnSpc>
              <a:buNone/>
              <a:defRPr sz="1125" b="0">
                <a:solidFill>
                  <a:srgbClr val="526777"/>
                </a:solidFill>
                <a:latin typeface="Arial"/>
                <a:ea typeface="Arial"/>
                <a:cs typeface="Arial"/>
              </a:defRPr>
            </a:pPr>
            <a:r>
              <a:rPr sz="1125" b="0">
                <a:solidFill>
                  <a:srgbClr val="526777"/>
                </a:solidFill>
                <a:latin typeface="Arial"/>
                <a:ea typeface="Arial"/>
                <a:cs typeface="Arial"/>
              </a:rPr>
              <a:t>kPa</a:t>
            </a:r>
          </a:p>
        </p:txBody>
      </p:sp>
      <p:sp>
        <p:nvSpPr>
          <p:cNvPr id="14" name="pressure-mark-75">
            <a:extLst>
              <a:ext uri="{FF2B5EF4-FFF2-40B4-BE49-F238E27FC236}">
                <a16:creationId xmlns:a16="http://schemas.microsoft.com/office/drawing/2014/main" id="{74C502D4-94AB-48C0-8AD4-FB6475E7ACAD}"/>
              </a:ext>
            </a:extLst>
          </p:cNvPr>
          <p:cNvSpPr>
            <a:spLocks noGrp="1"/>
          </p:cNvSpPr>
          <p:nvPr/>
        </p:nvSpPr>
        <p:spPr>
          <a:xfrm>
            <a:off x="4486275" y="2724150"/>
            <a:ext cx="990600" cy="742950"/>
          </a:xfrm>
          <a:prstGeom prst="roundRect">
            <a:avLst>
              <a:gd name="adj" fmla="val 10256"/>
            </a:avLst>
          </a:prstGeom>
          <a:solidFill>
            <a:srgbClr val="D9F0EC"/>
          </a:solidFill>
          <a:ln w="0">
            <a:noFill/>
            <a:prstDash val="solid"/>
          </a:ln>
        </p:spPr>
      </p:sp>
      <p:sp>
        <p:nvSpPr>
          <p:cNvPr id="15" name="pressure-value-75">
            <a:extLst>
              <a:ext uri="{FF2B5EF4-FFF2-40B4-BE49-F238E27FC236}">
                <a16:creationId xmlns:a16="http://schemas.microsoft.com/office/drawing/2014/main" id="{6EA8BF5D-62F5-42B9-81F1-72F5D1B9B1CC}"/>
              </a:ext>
            </a:extLst>
          </p:cNvPr>
          <p:cNvSpPr>
            <a:spLocks noGrp="1"/>
          </p:cNvSpPr>
          <p:nvPr/>
        </p:nvSpPr>
        <p:spPr>
          <a:xfrm>
            <a:off x="4486275" y="2886075"/>
            <a:ext cx="990600" cy="285750"/>
          </a:xfrm>
          <a:prstGeom prst="rect">
            <a:avLst/>
          </a:prstGeom>
          <a:noFill/>
          <a:ln w="0">
            <a:noFill/>
            <a:prstDash val="solid"/>
          </a:ln>
        </p:spPr>
        <p:txBody>
          <a:bodyPr wrap="square" lIns="0" tIns="0" rIns="0" bIns="0" anchor="t">
            <a:normAutofit fontScale="99075"/>
          </a:bodyPr>
          <a:lstStyle>
            <a:defPPr algn="ctr">
              <a:defRPr sz="1950" b="1">
                <a:solidFill>
                  <a:srgbClr val="168E92"/>
                </a:solidFill>
                <a:latin typeface="Arial"/>
                <a:ea typeface="Arial"/>
                <a:cs typeface="Arial"/>
              </a:defRPr>
            </a:defPPr>
          </a:lstStyle>
          <a:p>
            <a:pPr algn="ctr">
              <a:lnSpc>
                <a:spcPct val="105000"/>
              </a:lnSpc>
              <a:buNone/>
              <a:defRPr sz="1950" b="1">
                <a:solidFill>
                  <a:srgbClr val="168E92"/>
                </a:solidFill>
                <a:latin typeface="Arial"/>
                <a:ea typeface="Arial"/>
                <a:cs typeface="Arial"/>
              </a:defRPr>
            </a:pPr>
            <a:r>
              <a:rPr sz="1950" b="1">
                <a:solidFill>
                  <a:srgbClr val="168E92"/>
                </a:solidFill>
                <a:latin typeface="Arial"/>
                <a:ea typeface="Arial"/>
                <a:cs typeface="Arial"/>
              </a:rPr>
              <a:t>75</a:t>
            </a:r>
          </a:p>
        </p:txBody>
      </p:sp>
      <p:sp>
        <p:nvSpPr>
          <p:cNvPr id="16" name="pressure-unit-75">
            <a:extLst>
              <a:ext uri="{FF2B5EF4-FFF2-40B4-BE49-F238E27FC236}">
                <a16:creationId xmlns:a16="http://schemas.microsoft.com/office/drawing/2014/main" id="{9D17D40A-F6F2-4630-B111-CB30436282D3}"/>
              </a:ext>
            </a:extLst>
          </p:cNvPr>
          <p:cNvSpPr>
            <a:spLocks noGrp="1"/>
          </p:cNvSpPr>
          <p:nvPr/>
        </p:nvSpPr>
        <p:spPr>
          <a:xfrm>
            <a:off x="4486275" y="3181350"/>
            <a:ext cx="990600" cy="190500"/>
          </a:xfrm>
          <a:prstGeom prst="rect">
            <a:avLst/>
          </a:prstGeom>
          <a:noFill/>
          <a:ln w="0">
            <a:noFill/>
            <a:prstDash val="solid"/>
          </a:ln>
        </p:spPr>
        <p:txBody>
          <a:bodyPr wrap="square" lIns="0" tIns="0" rIns="0" bIns="0" anchor="t">
            <a:normAutofit/>
          </a:bodyPr>
          <a:lstStyle>
            <a:defPPr algn="ctr">
              <a:defRPr sz="1125" b="0">
                <a:solidFill>
                  <a:srgbClr val="526777"/>
                </a:solidFill>
                <a:latin typeface="Arial"/>
                <a:ea typeface="Arial"/>
                <a:cs typeface="Arial"/>
              </a:defRPr>
            </a:defPPr>
          </a:lstStyle>
          <a:p>
            <a:pPr algn="ctr">
              <a:lnSpc>
                <a:spcPct val="105000"/>
              </a:lnSpc>
              <a:buNone/>
              <a:defRPr sz="1125" b="0">
                <a:solidFill>
                  <a:srgbClr val="526777"/>
                </a:solidFill>
                <a:latin typeface="Arial"/>
                <a:ea typeface="Arial"/>
                <a:cs typeface="Arial"/>
              </a:defRPr>
            </a:pPr>
            <a:r>
              <a:rPr sz="1125" b="0">
                <a:solidFill>
                  <a:srgbClr val="526777"/>
                </a:solidFill>
                <a:latin typeface="Arial"/>
                <a:ea typeface="Arial"/>
                <a:cs typeface="Arial"/>
              </a:rPr>
              <a:t>kPa</a:t>
            </a:r>
          </a:p>
        </p:txBody>
      </p:sp>
      <p:sp>
        <p:nvSpPr>
          <p:cNvPr id="17" name="pressure-mark-100">
            <a:extLst>
              <a:ext uri="{FF2B5EF4-FFF2-40B4-BE49-F238E27FC236}">
                <a16:creationId xmlns:a16="http://schemas.microsoft.com/office/drawing/2014/main" id="{12645A87-2BC3-41CC-8F29-DA80F7DB9350}"/>
              </a:ext>
            </a:extLst>
          </p:cNvPr>
          <p:cNvSpPr>
            <a:spLocks noGrp="1"/>
          </p:cNvSpPr>
          <p:nvPr/>
        </p:nvSpPr>
        <p:spPr>
          <a:xfrm>
            <a:off x="5695950" y="2724150"/>
            <a:ext cx="990600" cy="742950"/>
          </a:xfrm>
          <a:prstGeom prst="roundRect">
            <a:avLst>
              <a:gd name="adj" fmla="val 10256"/>
            </a:avLst>
          </a:prstGeom>
          <a:solidFill>
            <a:srgbClr val="D9F0EC"/>
          </a:solidFill>
          <a:ln w="0">
            <a:noFill/>
            <a:prstDash val="solid"/>
          </a:ln>
        </p:spPr>
      </p:sp>
      <p:sp>
        <p:nvSpPr>
          <p:cNvPr id="18" name="pressure-value-100">
            <a:extLst>
              <a:ext uri="{FF2B5EF4-FFF2-40B4-BE49-F238E27FC236}">
                <a16:creationId xmlns:a16="http://schemas.microsoft.com/office/drawing/2014/main" id="{1CF2410D-01A2-4445-BE1B-0D756430EAA1}"/>
              </a:ext>
            </a:extLst>
          </p:cNvPr>
          <p:cNvSpPr>
            <a:spLocks noGrp="1"/>
          </p:cNvSpPr>
          <p:nvPr/>
        </p:nvSpPr>
        <p:spPr>
          <a:xfrm>
            <a:off x="5695950" y="2886075"/>
            <a:ext cx="990600" cy="285750"/>
          </a:xfrm>
          <a:prstGeom prst="rect">
            <a:avLst/>
          </a:prstGeom>
          <a:noFill/>
          <a:ln w="0">
            <a:noFill/>
            <a:prstDash val="solid"/>
          </a:ln>
        </p:spPr>
        <p:txBody>
          <a:bodyPr wrap="square" lIns="0" tIns="0" rIns="0" bIns="0" anchor="t">
            <a:normAutofit fontScale="99075"/>
          </a:bodyPr>
          <a:lstStyle>
            <a:defPPr algn="ctr">
              <a:defRPr sz="1950" b="1">
                <a:solidFill>
                  <a:srgbClr val="168E92"/>
                </a:solidFill>
                <a:latin typeface="Arial"/>
                <a:ea typeface="Arial"/>
                <a:cs typeface="Arial"/>
              </a:defRPr>
            </a:defPPr>
          </a:lstStyle>
          <a:p>
            <a:pPr algn="ctr">
              <a:lnSpc>
                <a:spcPct val="105000"/>
              </a:lnSpc>
              <a:buNone/>
              <a:defRPr sz="1950" b="1">
                <a:solidFill>
                  <a:srgbClr val="168E92"/>
                </a:solidFill>
                <a:latin typeface="Arial"/>
                <a:ea typeface="Arial"/>
                <a:cs typeface="Arial"/>
              </a:defRPr>
            </a:pPr>
            <a:r>
              <a:rPr sz="1950" b="1">
                <a:solidFill>
                  <a:srgbClr val="168E92"/>
                </a:solidFill>
                <a:latin typeface="Arial"/>
                <a:ea typeface="Arial"/>
                <a:cs typeface="Arial"/>
              </a:rPr>
              <a:t>100</a:t>
            </a:r>
          </a:p>
        </p:txBody>
      </p:sp>
      <p:sp>
        <p:nvSpPr>
          <p:cNvPr id="19" name="pressure-unit-100">
            <a:extLst>
              <a:ext uri="{FF2B5EF4-FFF2-40B4-BE49-F238E27FC236}">
                <a16:creationId xmlns:a16="http://schemas.microsoft.com/office/drawing/2014/main" id="{D027AD85-86D4-41BE-AC26-45B06613E511}"/>
              </a:ext>
            </a:extLst>
          </p:cNvPr>
          <p:cNvSpPr>
            <a:spLocks noGrp="1"/>
          </p:cNvSpPr>
          <p:nvPr/>
        </p:nvSpPr>
        <p:spPr>
          <a:xfrm>
            <a:off x="5695950" y="3181350"/>
            <a:ext cx="990600" cy="190500"/>
          </a:xfrm>
          <a:prstGeom prst="rect">
            <a:avLst/>
          </a:prstGeom>
          <a:noFill/>
          <a:ln w="0">
            <a:noFill/>
            <a:prstDash val="solid"/>
          </a:ln>
        </p:spPr>
        <p:txBody>
          <a:bodyPr wrap="square" lIns="0" tIns="0" rIns="0" bIns="0" anchor="t">
            <a:normAutofit/>
          </a:bodyPr>
          <a:lstStyle>
            <a:defPPr algn="ctr">
              <a:defRPr sz="1125" b="0">
                <a:solidFill>
                  <a:srgbClr val="526777"/>
                </a:solidFill>
                <a:latin typeface="Arial"/>
                <a:ea typeface="Arial"/>
                <a:cs typeface="Arial"/>
              </a:defRPr>
            </a:defPPr>
          </a:lstStyle>
          <a:p>
            <a:pPr algn="ctr">
              <a:lnSpc>
                <a:spcPct val="105000"/>
              </a:lnSpc>
              <a:buNone/>
              <a:defRPr sz="1125" b="0">
                <a:solidFill>
                  <a:srgbClr val="526777"/>
                </a:solidFill>
                <a:latin typeface="Arial"/>
                <a:ea typeface="Arial"/>
                <a:cs typeface="Arial"/>
              </a:defRPr>
            </a:pPr>
            <a:r>
              <a:rPr sz="1125" b="0">
                <a:solidFill>
                  <a:srgbClr val="526777"/>
                </a:solidFill>
                <a:latin typeface="Arial"/>
                <a:ea typeface="Arial"/>
                <a:cs typeface="Arial"/>
              </a:rPr>
              <a:t>kPa</a:t>
            </a:r>
          </a:p>
        </p:txBody>
      </p:sp>
      <p:sp>
        <p:nvSpPr>
          <p:cNvPr id="20" name="pressure-mark-125">
            <a:extLst>
              <a:ext uri="{FF2B5EF4-FFF2-40B4-BE49-F238E27FC236}">
                <a16:creationId xmlns:a16="http://schemas.microsoft.com/office/drawing/2014/main" id="{636C704B-785F-44B4-B9E4-92B8EEC13BA0}"/>
              </a:ext>
            </a:extLst>
          </p:cNvPr>
          <p:cNvSpPr>
            <a:spLocks noGrp="1"/>
          </p:cNvSpPr>
          <p:nvPr/>
        </p:nvSpPr>
        <p:spPr>
          <a:xfrm>
            <a:off x="6905625" y="2724150"/>
            <a:ext cx="990600" cy="742950"/>
          </a:xfrm>
          <a:prstGeom prst="roundRect">
            <a:avLst>
              <a:gd name="adj" fmla="val 10256"/>
            </a:avLst>
          </a:prstGeom>
          <a:solidFill>
            <a:srgbClr val="D9F0EC"/>
          </a:solidFill>
          <a:ln w="0">
            <a:noFill/>
            <a:prstDash val="solid"/>
          </a:ln>
        </p:spPr>
      </p:sp>
      <p:sp>
        <p:nvSpPr>
          <p:cNvPr id="21" name="pressure-value-125">
            <a:extLst>
              <a:ext uri="{FF2B5EF4-FFF2-40B4-BE49-F238E27FC236}">
                <a16:creationId xmlns:a16="http://schemas.microsoft.com/office/drawing/2014/main" id="{EAEC8A50-112E-4437-8558-69879EDBFBD8}"/>
              </a:ext>
            </a:extLst>
          </p:cNvPr>
          <p:cNvSpPr>
            <a:spLocks noGrp="1"/>
          </p:cNvSpPr>
          <p:nvPr/>
        </p:nvSpPr>
        <p:spPr>
          <a:xfrm>
            <a:off x="6905625" y="2886075"/>
            <a:ext cx="990600" cy="285750"/>
          </a:xfrm>
          <a:prstGeom prst="rect">
            <a:avLst/>
          </a:prstGeom>
          <a:noFill/>
          <a:ln w="0">
            <a:noFill/>
            <a:prstDash val="solid"/>
          </a:ln>
        </p:spPr>
        <p:txBody>
          <a:bodyPr wrap="square" lIns="0" tIns="0" rIns="0" bIns="0" anchor="t">
            <a:normAutofit fontScale="99075"/>
          </a:bodyPr>
          <a:lstStyle>
            <a:defPPr algn="ctr">
              <a:defRPr sz="1950" b="1">
                <a:solidFill>
                  <a:srgbClr val="168E92"/>
                </a:solidFill>
                <a:latin typeface="Arial"/>
                <a:ea typeface="Arial"/>
                <a:cs typeface="Arial"/>
              </a:defRPr>
            </a:defPPr>
          </a:lstStyle>
          <a:p>
            <a:pPr algn="ctr">
              <a:lnSpc>
                <a:spcPct val="105000"/>
              </a:lnSpc>
              <a:buNone/>
              <a:defRPr sz="1950" b="1">
                <a:solidFill>
                  <a:srgbClr val="168E92"/>
                </a:solidFill>
                <a:latin typeface="Arial"/>
                <a:ea typeface="Arial"/>
                <a:cs typeface="Arial"/>
              </a:defRPr>
            </a:pPr>
            <a:r>
              <a:rPr sz="1950" b="1">
                <a:solidFill>
                  <a:srgbClr val="168E92"/>
                </a:solidFill>
                <a:latin typeface="Arial"/>
                <a:ea typeface="Arial"/>
                <a:cs typeface="Arial"/>
              </a:rPr>
              <a:t>125</a:t>
            </a:r>
          </a:p>
        </p:txBody>
      </p:sp>
      <p:sp>
        <p:nvSpPr>
          <p:cNvPr id="22" name="pressure-unit-125">
            <a:extLst>
              <a:ext uri="{FF2B5EF4-FFF2-40B4-BE49-F238E27FC236}">
                <a16:creationId xmlns:a16="http://schemas.microsoft.com/office/drawing/2014/main" id="{3B577493-0B61-4224-89CD-3CEC3DA95918}"/>
              </a:ext>
            </a:extLst>
          </p:cNvPr>
          <p:cNvSpPr>
            <a:spLocks noGrp="1"/>
          </p:cNvSpPr>
          <p:nvPr/>
        </p:nvSpPr>
        <p:spPr>
          <a:xfrm>
            <a:off x="6905625" y="3181350"/>
            <a:ext cx="990600" cy="190500"/>
          </a:xfrm>
          <a:prstGeom prst="rect">
            <a:avLst/>
          </a:prstGeom>
          <a:noFill/>
          <a:ln w="0">
            <a:noFill/>
            <a:prstDash val="solid"/>
          </a:ln>
        </p:spPr>
        <p:txBody>
          <a:bodyPr wrap="square" lIns="0" tIns="0" rIns="0" bIns="0" anchor="t">
            <a:normAutofit/>
          </a:bodyPr>
          <a:lstStyle>
            <a:defPPr algn="ctr">
              <a:defRPr sz="1125" b="0">
                <a:solidFill>
                  <a:srgbClr val="526777"/>
                </a:solidFill>
                <a:latin typeface="Arial"/>
                <a:ea typeface="Arial"/>
                <a:cs typeface="Arial"/>
              </a:defRPr>
            </a:defPPr>
          </a:lstStyle>
          <a:p>
            <a:pPr algn="ctr">
              <a:lnSpc>
                <a:spcPct val="105000"/>
              </a:lnSpc>
              <a:buNone/>
              <a:defRPr sz="1125" b="0">
                <a:solidFill>
                  <a:srgbClr val="526777"/>
                </a:solidFill>
                <a:latin typeface="Arial"/>
                <a:ea typeface="Arial"/>
                <a:cs typeface="Arial"/>
              </a:defRPr>
            </a:pPr>
            <a:r>
              <a:rPr sz="1125" b="0">
                <a:solidFill>
                  <a:srgbClr val="526777"/>
                </a:solidFill>
                <a:latin typeface="Arial"/>
                <a:ea typeface="Arial"/>
                <a:cs typeface="Arial"/>
              </a:rPr>
              <a:t>kPa</a:t>
            </a:r>
          </a:p>
        </p:txBody>
      </p:sp>
      <p:sp>
        <p:nvSpPr>
          <p:cNvPr id="23" name="pressure-mark-150">
            <a:extLst>
              <a:ext uri="{FF2B5EF4-FFF2-40B4-BE49-F238E27FC236}">
                <a16:creationId xmlns:a16="http://schemas.microsoft.com/office/drawing/2014/main" id="{5C584C88-5F5A-40B2-AB43-D1C0D8C7ECDA}"/>
              </a:ext>
            </a:extLst>
          </p:cNvPr>
          <p:cNvSpPr>
            <a:spLocks noGrp="1"/>
          </p:cNvSpPr>
          <p:nvPr/>
        </p:nvSpPr>
        <p:spPr>
          <a:xfrm>
            <a:off x="8115300" y="2724150"/>
            <a:ext cx="990600" cy="742950"/>
          </a:xfrm>
          <a:prstGeom prst="roundRect">
            <a:avLst>
              <a:gd name="adj" fmla="val 10256"/>
            </a:avLst>
          </a:prstGeom>
          <a:solidFill>
            <a:srgbClr val="D9F0EC"/>
          </a:solidFill>
          <a:ln w="0">
            <a:noFill/>
            <a:prstDash val="solid"/>
          </a:ln>
        </p:spPr>
      </p:sp>
      <p:sp>
        <p:nvSpPr>
          <p:cNvPr id="24" name="pressure-value-150">
            <a:extLst>
              <a:ext uri="{FF2B5EF4-FFF2-40B4-BE49-F238E27FC236}">
                <a16:creationId xmlns:a16="http://schemas.microsoft.com/office/drawing/2014/main" id="{9826DBC0-E4DF-4693-8765-DC9C19B68B20}"/>
              </a:ext>
            </a:extLst>
          </p:cNvPr>
          <p:cNvSpPr>
            <a:spLocks noGrp="1"/>
          </p:cNvSpPr>
          <p:nvPr/>
        </p:nvSpPr>
        <p:spPr>
          <a:xfrm>
            <a:off x="8115300" y="2886075"/>
            <a:ext cx="990600" cy="285750"/>
          </a:xfrm>
          <a:prstGeom prst="rect">
            <a:avLst/>
          </a:prstGeom>
          <a:noFill/>
          <a:ln w="0">
            <a:noFill/>
            <a:prstDash val="solid"/>
          </a:ln>
        </p:spPr>
        <p:txBody>
          <a:bodyPr wrap="square" lIns="0" tIns="0" rIns="0" bIns="0" anchor="t">
            <a:normAutofit fontScale="99075"/>
          </a:bodyPr>
          <a:lstStyle>
            <a:defPPr algn="ctr">
              <a:defRPr sz="1950" b="1">
                <a:solidFill>
                  <a:srgbClr val="168E92"/>
                </a:solidFill>
                <a:latin typeface="Arial"/>
                <a:ea typeface="Arial"/>
                <a:cs typeface="Arial"/>
              </a:defRPr>
            </a:defPPr>
          </a:lstStyle>
          <a:p>
            <a:pPr algn="ctr">
              <a:lnSpc>
                <a:spcPct val="105000"/>
              </a:lnSpc>
              <a:buNone/>
              <a:defRPr sz="1950" b="1">
                <a:solidFill>
                  <a:srgbClr val="168E92"/>
                </a:solidFill>
                <a:latin typeface="Arial"/>
                <a:ea typeface="Arial"/>
                <a:cs typeface="Arial"/>
              </a:defRPr>
            </a:pPr>
            <a:r>
              <a:rPr sz="1950" b="1">
                <a:solidFill>
                  <a:srgbClr val="168E92"/>
                </a:solidFill>
                <a:latin typeface="Arial"/>
                <a:ea typeface="Arial"/>
                <a:cs typeface="Arial"/>
              </a:rPr>
              <a:t>150</a:t>
            </a:r>
          </a:p>
        </p:txBody>
      </p:sp>
      <p:sp>
        <p:nvSpPr>
          <p:cNvPr id="25" name="pressure-unit-150">
            <a:extLst>
              <a:ext uri="{FF2B5EF4-FFF2-40B4-BE49-F238E27FC236}">
                <a16:creationId xmlns:a16="http://schemas.microsoft.com/office/drawing/2014/main" id="{D18A8ECD-95AD-4D4F-BC60-D946B6F85E9A}"/>
              </a:ext>
            </a:extLst>
          </p:cNvPr>
          <p:cNvSpPr>
            <a:spLocks noGrp="1"/>
          </p:cNvSpPr>
          <p:nvPr/>
        </p:nvSpPr>
        <p:spPr>
          <a:xfrm>
            <a:off x="8115300" y="3181350"/>
            <a:ext cx="990600" cy="190500"/>
          </a:xfrm>
          <a:prstGeom prst="rect">
            <a:avLst/>
          </a:prstGeom>
          <a:noFill/>
          <a:ln w="0">
            <a:noFill/>
            <a:prstDash val="solid"/>
          </a:ln>
        </p:spPr>
        <p:txBody>
          <a:bodyPr wrap="square" lIns="0" tIns="0" rIns="0" bIns="0" anchor="t">
            <a:normAutofit/>
          </a:bodyPr>
          <a:lstStyle>
            <a:defPPr algn="ctr">
              <a:defRPr sz="1125" b="0">
                <a:solidFill>
                  <a:srgbClr val="526777"/>
                </a:solidFill>
                <a:latin typeface="Arial"/>
                <a:ea typeface="Arial"/>
                <a:cs typeface="Arial"/>
              </a:defRPr>
            </a:defPPr>
          </a:lstStyle>
          <a:p>
            <a:pPr algn="ctr">
              <a:lnSpc>
                <a:spcPct val="105000"/>
              </a:lnSpc>
              <a:buNone/>
              <a:defRPr sz="1125" b="0">
                <a:solidFill>
                  <a:srgbClr val="526777"/>
                </a:solidFill>
                <a:latin typeface="Arial"/>
                <a:ea typeface="Arial"/>
                <a:cs typeface="Arial"/>
              </a:defRPr>
            </a:pPr>
            <a:r>
              <a:rPr sz="1125" b="0">
                <a:solidFill>
                  <a:srgbClr val="526777"/>
                </a:solidFill>
                <a:latin typeface="Arial"/>
                <a:ea typeface="Arial"/>
                <a:cs typeface="Arial"/>
              </a:rPr>
              <a:t>kPa</a:t>
            </a:r>
          </a:p>
        </p:txBody>
      </p:sp>
      <p:sp>
        <p:nvSpPr>
          <p:cNvPr id="26" name="pressure-mark-175">
            <a:extLst>
              <a:ext uri="{FF2B5EF4-FFF2-40B4-BE49-F238E27FC236}">
                <a16:creationId xmlns:a16="http://schemas.microsoft.com/office/drawing/2014/main" id="{2DF30F5F-121C-4FF0-8A96-302509B874B8}"/>
              </a:ext>
            </a:extLst>
          </p:cNvPr>
          <p:cNvSpPr>
            <a:spLocks noGrp="1"/>
          </p:cNvSpPr>
          <p:nvPr/>
        </p:nvSpPr>
        <p:spPr>
          <a:xfrm>
            <a:off x="9324975" y="2724150"/>
            <a:ext cx="990600" cy="742950"/>
          </a:xfrm>
          <a:prstGeom prst="roundRect">
            <a:avLst>
              <a:gd name="adj" fmla="val 10256"/>
            </a:avLst>
          </a:prstGeom>
          <a:solidFill>
            <a:srgbClr val="D9F0EC"/>
          </a:solidFill>
          <a:ln w="0">
            <a:noFill/>
            <a:prstDash val="solid"/>
          </a:ln>
        </p:spPr>
      </p:sp>
      <p:sp>
        <p:nvSpPr>
          <p:cNvPr id="27" name="pressure-value-175">
            <a:extLst>
              <a:ext uri="{FF2B5EF4-FFF2-40B4-BE49-F238E27FC236}">
                <a16:creationId xmlns:a16="http://schemas.microsoft.com/office/drawing/2014/main" id="{A81666EB-A37C-4BEA-902E-1F29E4A0C116}"/>
              </a:ext>
            </a:extLst>
          </p:cNvPr>
          <p:cNvSpPr>
            <a:spLocks noGrp="1"/>
          </p:cNvSpPr>
          <p:nvPr/>
        </p:nvSpPr>
        <p:spPr>
          <a:xfrm>
            <a:off x="9324975" y="2886075"/>
            <a:ext cx="990600" cy="285750"/>
          </a:xfrm>
          <a:prstGeom prst="rect">
            <a:avLst/>
          </a:prstGeom>
          <a:noFill/>
          <a:ln w="0">
            <a:noFill/>
            <a:prstDash val="solid"/>
          </a:ln>
        </p:spPr>
        <p:txBody>
          <a:bodyPr wrap="square" lIns="0" tIns="0" rIns="0" bIns="0" anchor="t">
            <a:normAutofit fontScale="99075"/>
          </a:bodyPr>
          <a:lstStyle>
            <a:defPPr algn="ctr">
              <a:defRPr sz="1950" b="1">
                <a:solidFill>
                  <a:srgbClr val="168E92"/>
                </a:solidFill>
                <a:latin typeface="Arial"/>
                <a:ea typeface="Arial"/>
                <a:cs typeface="Arial"/>
              </a:defRPr>
            </a:defPPr>
          </a:lstStyle>
          <a:p>
            <a:pPr algn="ctr">
              <a:lnSpc>
                <a:spcPct val="105000"/>
              </a:lnSpc>
              <a:buNone/>
              <a:defRPr sz="1950" b="1">
                <a:solidFill>
                  <a:srgbClr val="168E92"/>
                </a:solidFill>
                <a:latin typeface="Arial"/>
                <a:ea typeface="Arial"/>
                <a:cs typeface="Arial"/>
              </a:defRPr>
            </a:pPr>
            <a:r>
              <a:rPr sz="1950" b="1">
                <a:solidFill>
                  <a:srgbClr val="168E92"/>
                </a:solidFill>
                <a:latin typeface="Arial"/>
                <a:ea typeface="Arial"/>
                <a:cs typeface="Arial"/>
              </a:rPr>
              <a:t>175</a:t>
            </a:r>
          </a:p>
        </p:txBody>
      </p:sp>
      <p:sp>
        <p:nvSpPr>
          <p:cNvPr id="28" name="pressure-unit-175">
            <a:extLst>
              <a:ext uri="{FF2B5EF4-FFF2-40B4-BE49-F238E27FC236}">
                <a16:creationId xmlns:a16="http://schemas.microsoft.com/office/drawing/2014/main" id="{09B2FB4E-AD02-438C-ADA0-9A2EBF3D0D82}"/>
              </a:ext>
            </a:extLst>
          </p:cNvPr>
          <p:cNvSpPr>
            <a:spLocks noGrp="1"/>
          </p:cNvSpPr>
          <p:nvPr/>
        </p:nvSpPr>
        <p:spPr>
          <a:xfrm>
            <a:off x="9324975" y="3181350"/>
            <a:ext cx="990600" cy="190500"/>
          </a:xfrm>
          <a:prstGeom prst="rect">
            <a:avLst/>
          </a:prstGeom>
          <a:noFill/>
          <a:ln w="0">
            <a:noFill/>
            <a:prstDash val="solid"/>
          </a:ln>
        </p:spPr>
        <p:txBody>
          <a:bodyPr wrap="square" lIns="0" tIns="0" rIns="0" bIns="0" anchor="t">
            <a:normAutofit/>
          </a:bodyPr>
          <a:lstStyle>
            <a:defPPr algn="ctr">
              <a:defRPr sz="1125" b="0">
                <a:solidFill>
                  <a:srgbClr val="526777"/>
                </a:solidFill>
                <a:latin typeface="Arial"/>
                <a:ea typeface="Arial"/>
                <a:cs typeface="Arial"/>
              </a:defRPr>
            </a:defPPr>
          </a:lstStyle>
          <a:p>
            <a:pPr algn="ctr">
              <a:lnSpc>
                <a:spcPct val="105000"/>
              </a:lnSpc>
              <a:buNone/>
              <a:defRPr sz="1125" b="0">
                <a:solidFill>
                  <a:srgbClr val="526777"/>
                </a:solidFill>
                <a:latin typeface="Arial"/>
                <a:ea typeface="Arial"/>
                <a:cs typeface="Arial"/>
              </a:defRPr>
            </a:pPr>
            <a:r>
              <a:rPr sz="1125" b="0">
                <a:solidFill>
                  <a:srgbClr val="526777"/>
                </a:solidFill>
                <a:latin typeface="Arial"/>
                <a:ea typeface="Arial"/>
                <a:cs typeface="Arial"/>
              </a:rPr>
              <a:t>kPa</a:t>
            </a:r>
          </a:p>
        </p:txBody>
      </p:sp>
      <p:sp>
        <p:nvSpPr>
          <p:cNvPr id="29" name="pressure-mark-200">
            <a:extLst>
              <a:ext uri="{FF2B5EF4-FFF2-40B4-BE49-F238E27FC236}">
                <a16:creationId xmlns:a16="http://schemas.microsoft.com/office/drawing/2014/main" id="{E962ED94-793C-44B8-BDB7-A2FC56B2DDFA}"/>
              </a:ext>
            </a:extLst>
          </p:cNvPr>
          <p:cNvSpPr>
            <a:spLocks noGrp="1"/>
          </p:cNvSpPr>
          <p:nvPr/>
        </p:nvSpPr>
        <p:spPr>
          <a:xfrm>
            <a:off x="10534650" y="2724150"/>
            <a:ext cx="990600" cy="742950"/>
          </a:xfrm>
          <a:prstGeom prst="roundRect">
            <a:avLst>
              <a:gd name="adj" fmla="val 10256"/>
            </a:avLst>
          </a:prstGeom>
          <a:solidFill>
            <a:srgbClr val="D9F0EC"/>
          </a:solidFill>
          <a:ln w="0">
            <a:noFill/>
            <a:prstDash val="solid"/>
          </a:ln>
        </p:spPr>
      </p:sp>
      <p:sp>
        <p:nvSpPr>
          <p:cNvPr id="30" name="pressure-value-200">
            <a:extLst>
              <a:ext uri="{FF2B5EF4-FFF2-40B4-BE49-F238E27FC236}">
                <a16:creationId xmlns:a16="http://schemas.microsoft.com/office/drawing/2014/main" id="{EAAF6816-EA7E-4D0E-BA56-D4BA28AA9699}"/>
              </a:ext>
            </a:extLst>
          </p:cNvPr>
          <p:cNvSpPr>
            <a:spLocks noGrp="1"/>
          </p:cNvSpPr>
          <p:nvPr/>
        </p:nvSpPr>
        <p:spPr>
          <a:xfrm>
            <a:off x="10534650" y="2886075"/>
            <a:ext cx="990600" cy="285750"/>
          </a:xfrm>
          <a:prstGeom prst="rect">
            <a:avLst/>
          </a:prstGeom>
          <a:noFill/>
          <a:ln w="0">
            <a:noFill/>
            <a:prstDash val="solid"/>
          </a:ln>
        </p:spPr>
        <p:txBody>
          <a:bodyPr wrap="square" lIns="0" tIns="0" rIns="0" bIns="0" anchor="t">
            <a:normAutofit fontScale="99075"/>
          </a:bodyPr>
          <a:lstStyle>
            <a:defPPr algn="ctr">
              <a:defRPr sz="1950" b="1">
                <a:solidFill>
                  <a:srgbClr val="168E92"/>
                </a:solidFill>
                <a:latin typeface="Arial"/>
                <a:ea typeface="Arial"/>
                <a:cs typeface="Arial"/>
              </a:defRPr>
            </a:defPPr>
          </a:lstStyle>
          <a:p>
            <a:pPr algn="ctr">
              <a:lnSpc>
                <a:spcPct val="105000"/>
              </a:lnSpc>
              <a:buNone/>
              <a:defRPr sz="1950" b="1">
                <a:solidFill>
                  <a:srgbClr val="168E92"/>
                </a:solidFill>
                <a:latin typeface="Arial"/>
                <a:ea typeface="Arial"/>
                <a:cs typeface="Arial"/>
              </a:defRPr>
            </a:pPr>
            <a:r>
              <a:rPr sz="1950" b="1">
                <a:solidFill>
                  <a:srgbClr val="168E92"/>
                </a:solidFill>
                <a:latin typeface="Arial"/>
                <a:ea typeface="Arial"/>
                <a:cs typeface="Arial"/>
              </a:rPr>
              <a:t>200</a:t>
            </a:r>
          </a:p>
        </p:txBody>
      </p:sp>
      <p:sp>
        <p:nvSpPr>
          <p:cNvPr id="31" name="pressure-unit-200">
            <a:extLst>
              <a:ext uri="{FF2B5EF4-FFF2-40B4-BE49-F238E27FC236}">
                <a16:creationId xmlns:a16="http://schemas.microsoft.com/office/drawing/2014/main" id="{9AC8364B-FD75-4A66-A31E-7B86F17DCD2C}"/>
              </a:ext>
            </a:extLst>
          </p:cNvPr>
          <p:cNvSpPr>
            <a:spLocks noGrp="1"/>
          </p:cNvSpPr>
          <p:nvPr/>
        </p:nvSpPr>
        <p:spPr>
          <a:xfrm>
            <a:off x="10534650" y="3181350"/>
            <a:ext cx="990600" cy="190500"/>
          </a:xfrm>
          <a:prstGeom prst="rect">
            <a:avLst/>
          </a:prstGeom>
          <a:noFill/>
          <a:ln w="0">
            <a:noFill/>
            <a:prstDash val="solid"/>
          </a:ln>
        </p:spPr>
        <p:txBody>
          <a:bodyPr wrap="square" lIns="0" tIns="0" rIns="0" bIns="0" anchor="t">
            <a:normAutofit/>
          </a:bodyPr>
          <a:lstStyle>
            <a:defPPr algn="ctr">
              <a:defRPr sz="1125" b="0">
                <a:solidFill>
                  <a:srgbClr val="526777"/>
                </a:solidFill>
                <a:latin typeface="Arial"/>
                <a:ea typeface="Arial"/>
                <a:cs typeface="Arial"/>
              </a:defRPr>
            </a:defPPr>
          </a:lstStyle>
          <a:p>
            <a:pPr algn="ctr">
              <a:lnSpc>
                <a:spcPct val="105000"/>
              </a:lnSpc>
              <a:buNone/>
              <a:defRPr sz="1125" b="0">
                <a:solidFill>
                  <a:srgbClr val="526777"/>
                </a:solidFill>
                <a:latin typeface="Arial"/>
                <a:ea typeface="Arial"/>
                <a:cs typeface="Arial"/>
              </a:defRPr>
            </a:pPr>
            <a:r>
              <a:rPr sz="1125" b="0">
                <a:solidFill>
                  <a:srgbClr val="526777"/>
                </a:solidFill>
                <a:latin typeface="Arial"/>
                <a:ea typeface="Arial"/>
                <a:cs typeface="Arial"/>
              </a:rPr>
              <a:t>kPa</a:t>
            </a:r>
          </a:p>
        </p:txBody>
      </p:sp>
      <p:sp>
        <p:nvSpPr>
          <p:cNvPr id="32" name="split-train-rule">
            <a:extLst>
              <a:ext uri="{FF2B5EF4-FFF2-40B4-BE49-F238E27FC236}">
                <a16:creationId xmlns:a16="http://schemas.microsoft.com/office/drawing/2014/main" id="{56879C0B-DEFA-4B89-B2D8-F5E26B900469}"/>
              </a:ext>
            </a:extLst>
          </p:cNvPr>
          <p:cNvSpPr>
            <a:spLocks noGrp="1"/>
          </p:cNvSpPr>
          <p:nvPr/>
        </p:nvSpPr>
        <p:spPr>
          <a:xfrm>
            <a:off x="1028700" y="4067175"/>
            <a:ext cx="4286250" cy="381000"/>
          </a:xfrm>
          <a:prstGeom prst="rect">
            <a:avLst/>
          </a:prstGeom>
          <a:noFill/>
          <a:ln w="0">
            <a:noFill/>
            <a:prstDash val="solid"/>
          </a:ln>
        </p:spPr>
        <p:txBody>
          <a:bodyPr wrap="square" lIns="0" tIns="0" rIns="0" bIns="0" anchor="t">
            <a:normAutofit/>
          </a:bodyPr>
          <a:lstStyle>
            <a:defPPr algn="l">
              <a:defRPr sz="1725" b="1">
                <a:solidFill>
                  <a:srgbClr val="102A43"/>
                </a:solidFill>
                <a:latin typeface="Arial"/>
                <a:ea typeface="Arial"/>
                <a:cs typeface="Arial"/>
              </a:defRPr>
            </a:defPPr>
          </a:lstStyle>
          <a:p>
            <a:pPr algn="l">
              <a:lnSpc>
                <a:spcPct val="105000"/>
              </a:lnSpc>
              <a:buNone/>
              <a:defRPr sz="1725" b="1">
                <a:solidFill>
                  <a:srgbClr val="102A43"/>
                </a:solidFill>
                <a:latin typeface="Arial"/>
                <a:ea typeface="Arial"/>
                <a:cs typeface="Arial"/>
              </a:defRPr>
            </a:pPr>
            <a:r>
              <a:rPr sz="1725" b="1">
                <a:solidFill>
                  <a:srgbClr val="102A43"/>
                </a:solidFill>
                <a:latin typeface="Arial"/>
                <a:ea typeface="Arial"/>
                <a:cs typeface="Arial"/>
              </a:rPr>
              <a:t>TRAIN: the other 8 levels</a:t>
            </a:r>
          </a:p>
        </p:txBody>
      </p:sp>
      <p:sp>
        <p:nvSpPr>
          <p:cNvPr id="33" name="split-test-rule">
            <a:extLst>
              <a:ext uri="{FF2B5EF4-FFF2-40B4-BE49-F238E27FC236}">
                <a16:creationId xmlns:a16="http://schemas.microsoft.com/office/drawing/2014/main" id="{7EF7AE81-BA3F-461D-BA75-BD94C800A9FB}"/>
              </a:ext>
            </a:extLst>
          </p:cNvPr>
          <p:cNvSpPr>
            <a:spLocks noGrp="1"/>
          </p:cNvSpPr>
          <p:nvPr/>
        </p:nvSpPr>
        <p:spPr>
          <a:xfrm>
            <a:off x="6381750" y="4067175"/>
            <a:ext cx="4286250" cy="381000"/>
          </a:xfrm>
          <a:prstGeom prst="rect">
            <a:avLst/>
          </a:prstGeom>
          <a:noFill/>
          <a:ln w="0">
            <a:noFill/>
            <a:prstDash val="solid"/>
          </a:ln>
        </p:spPr>
        <p:txBody>
          <a:bodyPr wrap="square" lIns="0" tIns="0" rIns="0" bIns="0" anchor="t">
            <a:normAutofit/>
          </a:bodyPr>
          <a:lstStyle>
            <a:defPPr algn="l">
              <a:defRPr sz="1725" b="1">
                <a:solidFill>
                  <a:srgbClr val="EF8354"/>
                </a:solidFill>
                <a:latin typeface="Arial"/>
                <a:ea typeface="Arial"/>
                <a:cs typeface="Arial"/>
              </a:defRPr>
            </a:defPPr>
          </a:lstStyle>
          <a:p>
            <a:pPr algn="l">
              <a:lnSpc>
                <a:spcPct val="105000"/>
              </a:lnSpc>
              <a:buNone/>
              <a:defRPr sz="1725" b="1">
                <a:solidFill>
                  <a:srgbClr val="EF8354"/>
                </a:solidFill>
                <a:latin typeface="Arial"/>
                <a:ea typeface="Arial"/>
                <a:cs typeface="Arial"/>
              </a:defRPr>
            </a:pPr>
            <a:r>
              <a:rPr sz="1725" b="1">
                <a:solidFill>
                  <a:srgbClr val="EF8354"/>
                </a:solidFill>
                <a:latin typeface="Arial"/>
                <a:ea typeface="Arial"/>
                <a:cs typeface="Arial"/>
              </a:rPr>
              <a:t>TEST: the remaining level</a:t>
            </a:r>
          </a:p>
        </p:txBody>
      </p:sp>
      <p:sp>
        <p:nvSpPr>
          <p:cNvPr id="34" name="split-arrow">
            <a:extLst>
              <a:ext uri="{FF2B5EF4-FFF2-40B4-BE49-F238E27FC236}">
                <a16:creationId xmlns:a16="http://schemas.microsoft.com/office/drawing/2014/main" id="{6456E20C-609B-40D9-8659-4BC51D0207F4}"/>
              </a:ext>
            </a:extLst>
          </p:cNvPr>
          <p:cNvSpPr>
            <a:spLocks noGrp="1"/>
          </p:cNvSpPr>
          <p:nvPr/>
        </p:nvSpPr>
        <p:spPr>
          <a:xfrm>
            <a:off x="5000625" y="4257675"/>
            <a:ext cx="1190625" cy="0"/>
          </a:xfrm>
          <a:prstGeom prst="line">
            <a:avLst/>
          </a:prstGeom>
          <a:noFill/>
          <a:ln w="28575">
            <a:solidFill>
              <a:srgbClr val="243B53"/>
            </a:solidFill>
            <a:prstDash val="solid"/>
          </a:ln>
        </p:spPr>
      </p:sp>
      <p:sp>
        <p:nvSpPr>
          <p:cNvPr id="35" name="split-explanation">
            <a:extLst>
              <a:ext uri="{FF2B5EF4-FFF2-40B4-BE49-F238E27FC236}">
                <a16:creationId xmlns:a16="http://schemas.microsoft.com/office/drawing/2014/main" id="{B7190590-7725-4C0A-A86F-6E250B667E4D}"/>
              </a:ext>
            </a:extLst>
          </p:cNvPr>
          <p:cNvSpPr>
            <a:spLocks noGrp="1"/>
          </p:cNvSpPr>
          <p:nvPr/>
        </p:nvSpPr>
        <p:spPr>
          <a:xfrm>
            <a:off x="1104900" y="5086350"/>
            <a:ext cx="10001250" cy="609600"/>
          </a:xfrm>
          <a:prstGeom prst="rect">
            <a:avLst/>
          </a:prstGeom>
          <a:noFill/>
          <a:ln w="0">
            <a:noFill/>
            <a:prstDash val="solid"/>
          </a:ln>
        </p:spPr>
        <p:txBody>
          <a:bodyPr wrap="square" lIns="0" tIns="0" rIns="0" bIns="0" anchor="t">
            <a:normAutofit/>
          </a:bodyPr>
          <a:lstStyle>
            <a:defPPr algn="ctr">
              <a:defRPr sz="1575" b="0">
                <a:solidFill>
                  <a:srgbClr val="243B53"/>
                </a:solidFill>
                <a:latin typeface="Arial"/>
                <a:ea typeface="Arial"/>
                <a:cs typeface="Arial"/>
              </a:defRPr>
            </a:defPPr>
          </a:lstStyle>
          <a:p>
            <a:pPr algn="ctr">
              <a:lnSpc>
                <a:spcPct val="105000"/>
              </a:lnSpc>
              <a:buNone/>
              <a:defRPr sz="1575" b="0">
                <a:solidFill>
                  <a:srgbClr val="243B53"/>
                </a:solidFill>
                <a:latin typeface="Arial"/>
                <a:ea typeface="Arial"/>
                <a:cs typeface="Arial"/>
              </a:defRPr>
            </a:pPr>
            <a:r>
              <a:rPr sz="1575" b="0">
                <a:solidFill>
                  <a:srgbClr val="243B53"/>
                </a:solidFill>
                <a:latin typeface="Arial"/>
                <a:ea typeface="Arial"/>
                <a:cs typeface="Arial"/>
              </a:rPr>
              <a:t>Repeat nine times, rotating the held-out pressure level. This evaluates interpolation within the tested range—not transfer to a different actuator.</a:t>
            </a:r>
          </a:p>
        </p:txBody>
      </p:sp>
    </p:spTree>
    <p:extLst>
      <p:ext uri="{BB962C8B-B14F-4D97-AF65-F5344CB8AC3E}">
        <p14:creationId xmlns:p14="http://schemas.microsoft.com/office/powerpoint/2010/main" val="2126308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6C0E473C-4D59-4524-BAE3-FFFB6838F231}"/>
              </a:ext>
            </a:extLst>
          </p:cNvPr>
          <p:cNvSpPr>
            <a:spLocks noGrp="1"/>
          </p:cNvSpPr>
          <p:nvPr/>
        </p:nvSpPr>
        <p:spPr>
          <a:xfrm>
            <a:off x="685800" y="457200"/>
            <a:ext cx="10820400" cy="552450"/>
          </a:xfrm>
          <a:prstGeom prst="rect">
            <a:avLst/>
          </a:prstGeom>
          <a:noFill/>
          <a:ln w="0">
            <a:noFill/>
            <a:prstDash val="solid"/>
          </a:ln>
        </p:spPr>
        <p:txBody>
          <a:bodyPr wrap="square" lIns="0" tIns="0" rIns="0" bIns="0" anchor="t">
            <a:normAutofit/>
          </a:bodyPr>
          <a:lstStyle>
            <a:defPPr algn="l">
              <a:defRPr sz="3000" b="1">
                <a:solidFill>
                  <a:srgbClr val="102A43"/>
                </a:solidFill>
                <a:latin typeface="Arial"/>
                <a:ea typeface="Arial"/>
                <a:cs typeface="Arial"/>
              </a:defRPr>
            </a:defPPr>
          </a:lstStyle>
          <a:p>
            <a:pPr algn="l">
              <a:lnSpc>
                <a:spcPct val="105000"/>
              </a:lnSpc>
              <a:buNone/>
              <a:defRPr sz="3000" b="1">
                <a:solidFill>
                  <a:srgbClr val="102A43"/>
                </a:solidFill>
                <a:latin typeface="Arial"/>
                <a:ea typeface="Arial"/>
                <a:cs typeface="Arial"/>
              </a:defRPr>
            </a:pPr>
            <a:r>
              <a:rPr sz="3000" b="1">
                <a:solidFill>
                  <a:srgbClr val="102A43"/>
                </a:solidFill>
                <a:latin typeface="Arial"/>
                <a:ea typeface="Arial"/>
                <a:cs typeface="Arial"/>
              </a:rPr>
              <a:t>Quadratic models lead pressure-level validation</a:t>
            </a:r>
          </a:p>
        </p:txBody>
      </p:sp>
      <p:sp>
        <p:nvSpPr>
          <p:cNvPr id="2" name="slide-subtitle">
            <a:extLst>
              <a:ext uri="{FF2B5EF4-FFF2-40B4-BE49-F238E27FC236}">
                <a16:creationId xmlns:a16="http://schemas.microsoft.com/office/drawing/2014/main" id="{110B51F6-7BCC-4F67-9D35-FBCC6DE8082A}"/>
              </a:ext>
            </a:extLst>
          </p:cNvPr>
          <p:cNvSpPr>
            <a:spLocks noGrp="1"/>
          </p:cNvSpPr>
          <p:nvPr/>
        </p:nvSpPr>
        <p:spPr>
          <a:xfrm>
            <a:off x="704850" y="1047750"/>
            <a:ext cx="10477500" cy="400050"/>
          </a:xfrm>
          <a:prstGeom prst="rect">
            <a:avLst/>
          </a:prstGeom>
          <a:noFill/>
          <a:ln w="0">
            <a:noFill/>
            <a:prstDash val="solid"/>
          </a:ln>
        </p:spPr>
        <p:txBody>
          <a:bodyPr wrap="square" lIns="0" tIns="0" rIns="0" bIns="0" anchor="t">
            <a:normAutofit/>
          </a:bodyPr>
          <a:lstStyle>
            <a:defPPr algn="l">
              <a:defRPr sz="1575" b="0">
                <a:solidFill>
                  <a:srgbClr val="526777"/>
                </a:solidFill>
                <a:latin typeface="Arial"/>
                <a:ea typeface="Arial"/>
                <a:cs typeface="Arial"/>
              </a:defRPr>
            </a:defPPr>
          </a:lstStyle>
          <a:p>
            <a:pPr algn="l">
              <a:lnSpc>
                <a:spcPct val="105000"/>
              </a:lnSpc>
              <a:buNone/>
              <a:defRPr sz="1575" b="0">
                <a:solidFill>
                  <a:srgbClr val="526777"/>
                </a:solidFill>
                <a:latin typeface="Arial"/>
                <a:ea typeface="Arial"/>
                <a:cs typeface="Arial"/>
              </a:defRPr>
            </a:pPr>
            <a:r>
              <a:rPr sz="1575" b="0">
                <a:solidFill>
                  <a:srgbClr val="526777"/>
                </a:solidFill>
                <a:latin typeface="Arial"/>
                <a:ea typeface="Arial"/>
                <a:cs typeface="Arial"/>
              </a:rPr>
              <a:t>Each of the nine pressure settings is held out once; all 37,073 aligned rows contribute to pooled scores</a:t>
            </a:r>
          </a:p>
        </p:txBody>
      </p:sp>
      <p:sp>
        <p:nvSpPr>
          <p:cNvPr id="3" name="title-rule">
            <a:extLst>
              <a:ext uri="{FF2B5EF4-FFF2-40B4-BE49-F238E27FC236}">
                <a16:creationId xmlns:a16="http://schemas.microsoft.com/office/drawing/2014/main" id="{864B540E-6FAB-4DBE-9C7D-ED395751A10F}"/>
              </a:ext>
            </a:extLst>
          </p:cNvPr>
          <p:cNvSpPr>
            <a:spLocks noGrp="1"/>
          </p:cNvSpPr>
          <p:nvPr/>
        </p:nvSpPr>
        <p:spPr>
          <a:xfrm>
            <a:off x="685800" y="1543050"/>
            <a:ext cx="704850" cy="47625"/>
          </a:xfrm>
          <a:prstGeom prst="rect">
            <a:avLst/>
          </a:prstGeom>
          <a:solidFill>
            <a:srgbClr val="EF8354"/>
          </a:solidFill>
          <a:ln w="0">
            <a:noFill/>
            <a:prstDash val="solid"/>
          </a:ln>
        </p:spPr>
      </p:sp>
      <p:sp>
        <p:nvSpPr>
          <p:cNvPr id="4" name="r2-label">
            <a:extLst>
              <a:ext uri="{FF2B5EF4-FFF2-40B4-BE49-F238E27FC236}">
                <a16:creationId xmlns:a16="http://schemas.microsoft.com/office/drawing/2014/main" id="{318F517E-19CF-4B50-B1BE-2585677341D9}"/>
              </a:ext>
            </a:extLst>
          </p:cNvPr>
          <p:cNvSpPr>
            <a:spLocks noGrp="1"/>
          </p:cNvSpPr>
          <p:nvPr/>
        </p:nvSpPr>
        <p:spPr>
          <a:xfrm>
            <a:off x="800100" y="1943100"/>
            <a:ext cx="4762500" cy="323850"/>
          </a:xfrm>
          <a:prstGeom prst="rect">
            <a:avLst/>
          </a:prstGeom>
          <a:noFill/>
          <a:ln w="0">
            <a:noFill/>
            <a:prstDash val="solid"/>
          </a:ln>
        </p:spPr>
        <p:txBody>
          <a:bodyPr wrap="square" lIns="0" tIns="0" rIns="0" bIns="0" anchor="t">
            <a:normAutofit/>
          </a:bodyPr>
          <a:lstStyle>
            <a:defPPr algn="l">
              <a:defRPr sz="1650" b="1">
                <a:solidFill>
                  <a:srgbClr val="102A43"/>
                </a:solidFill>
                <a:latin typeface="Arial"/>
                <a:ea typeface="Arial"/>
                <a:cs typeface="Arial"/>
              </a:defRPr>
            </a:defPPr>
          </a:lstStyle>
          <a:p>
            <a:pPr algn="l">
              <a:lnSpc>
                <a:spcPct val="105000"/>
              </a:lnSpc>
              <a:buNone/>
              <a:defRPr sz="1650" b="1">
                <a:solidFill>
                  <a:srgbClr val="102A43"/>
                </a:solidFill>
                <a:latin typeface="Arial"/>
                <a:ea typeface="Arial"/>
                <a:cs typeface="Arial"/>
              </a:defRPr>
            </a:pPr>
            <a:r>
              <a:rPr sz="1650" b="1">
                <a:solidFill>
                  <a:srgbClr val="102A43"/>
                </a:solidFill>
                <a:latin typeface="Arial"/>
                <a:ea typeface="Arial"/>
                <a:cs typeface="Arial"/>
              </a:rPr>
              <a:t>Pooled R² across nine folds</a:t>
            </a:r>
          </a:p>
        </p:txBody>
      </p:sp>
      <p:graphicFrame>
        <p:nvGraphicFramePr>
          <p:cNvPr id="5" name="Chart">
            <a:extLst>
              <a:ext uri="{FF2B5EF4-FFF2-40B4-BE49-F238E27FC236}">
                <a16:creationId xmlns:a16="http://schemas.microsoft.com/office/drawing/2014/main" id="{278FF477-4A00-442B-BFE1-30D494C7FA5A}"/>
              </a:ext>
            </a:extLst>
          </p:cNvPr>
          <p:cNvGraphicFramePr/>
          <p:nvPr/>
        </p:nvGraphicFramePr>
        <p:xfrm>
          <a:off x="685800" y="2381250"/>
          <a:ext cx="64770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sult-divider">
            <a:extLst>
              <a:ext uri="{FF2B5EF4-FFF2-40B4-BE49-F238E27FC236}">
                <a16:creationId xmlns:a16="http://schemas.microsoft.com/office/drawing/2014/main" id="{E8D0114F-1E57-4C58-9C50-BD60B8DB840D}"/>
              </a:ext>
            </a:extLst>
          </p:cNvPr>
          <p:cNvSpPr>
            <a:spLocks noGrp="1"/>
          </p:cNvSpPr>
          <p:nvPr/>
        </p:nvSpPr>
        <p:spPr>
          <a:xfrm>
            <a:off x="7581900" y="2190750"/>
            <a:ext cx="0" cy="3552825"/>
          </a:xfrm>
          <a:prstGeom prst="line">
            <a:avLst/>
          </a:prstGeom>
          <a:noFill/>
          <a:ln w="19050">
            <a:solidFill>
              <a:srgbClr val="D4DEE3"/>
            </a:solidFill>
            <a:prstDash val="solid"/>
          </a:ln>
        </p:spPr>
      </p:sp>
      <p:sp>
        <p:nvSpPr>
          <p:cNvPr id="7" name="best-model">
            <a:extLst>
              <a:ext uri="{FF2B5EF4-FFF2-40B4-BE49-F238E27FC236}">
                <a16:creationId xmlns:a16="http://schemas.microsoft.com/office/drawing/2014/main" id="{9A38A93E-9AD6-436F-8036-A51EF5EFEF11}"/>
              </a:ext>
            </a:extLst>
          </p:cNvPr>
          <p:cNvSpPr>
            <a:spLocks noGrp="1"/>
          </p:cNvSpPr>
          <p:nvPr/>
        </p:nvSpPr>
        <p:spPr>
          <a:xfrm>
            <a:off x="8096250" y="2476500"/>
            <a:ext cx="3238500" cy="895350"/>
          </a:xfrm>
          <a:prstGeom prst="rect">
            <a:avLst/>
          </a:prstGeom>
          <a:noFill/>
          <a:ln w="0">
            <a:noFill/>
            <a:prstDash val="solid"/>
          </a:ln>
        </p:spPr>
        <p:txBody>
          <a:bodyPr wrap="square" lIns="0" tIns="0" rIns="0" bIns="0" anchor="t">
            <a:normAutofit/>
          </a:bodyPr>
          <a:lstStyle>
            <a:defPPr algn="l">
              <a:defRPr sz="2550" b="1">
                <a:solidFill>
                  <a:srgbClr val="168E92"/>
                </a:solidFill>
                <a:latin typeface="Arial"/>
                <a:ea typeface="Arial"/>
                <a:cs typeface="Arial"/>
              </a:defRPr>
            </a:defPPr>
          </a:lstStyle>
          <a:p>
            <a:pPr algn="l">
              <a:lnSpc>
                <a:spcPct val="98000"/>
              </a:lnSpc>
              <a:buNone/>
              <a:defRPr sz="2550" b="1">
                <a:solidFill>
                  <a:srgbClr val="168E92"/>
                </a:solidFill>
                <a:latin typeface="Arial"/>
                <a:ea typeface="Arial"/>
                <a:cs typeface="Arial"/>
              </a:defRPr>
            </a:pPr>
            <a:r>
              <a:rPr sz="2550" b="1">
                <a:solidFill>
                  <a:srgbClr val="168E92"/>
                </a:solidFill>
                <a:latin typeface="Arial"/>
                <a:ea typeface="Arial"/>
                <a:cs typeface="Arial"/>
              </a:rPr>
              <a:t>Quadratic</a:t>
            </a:r>
          </a:p>
          <a:p>
            <a:pPr algn="l">
              <a:lnSpc>
                <a:spcPct val="98000"/>
              </a:lnSpc>
              <a:buNone/>
              <a:defRPr sz="2550" b="1">
                <a:solidFill>
                  <a:srgbClr val="168E92"/>
                </a:solidFill>
                <a:latin typeface="Arial"/>
                <a:ea typeface="Arial"/>
                <a:cs typeface="Arial"/>
              </a:defRPr>
            </a:pPr>
            <a:r>
              <a:rPr sz="2550" b="1">
                <a:solidFill>
                  <a:srgbClr val="168E92"/>
                </a:solidFill>
                <a:latin typeface="Arial"/>
                <a:ea typeface="Arial"/>
                <a:cs typeface="Arial"/>
              </a:rPr>
              <a:t>Ridge</a:t>
            </a:r>
          </a:p>
        </p:txBody>
      </p:sp>
      <p:sp>
        <p:nvSpPr>
          <p:cNvPr id="8" name="best-model-mae-label">
            <a:extLst>
              <a:ext uri="{FF2B5EF4-FFF2-40B4-BE49-F238E27FC236}">
                <a16:creationId xmlns:a16="http://schemas.microsoft.com/office/drawing/2014/main" id="{3A8F97B2-64F3-4BE7-B899-06806EA86C8D}"/>
              </a:ext>
            </a:extLst>
          </p:cNvPr>
          <p:cNvSpPr>
            <a:spLocks noGrp="1"/>
          </p:cNvSpPr>
          <p:nvPr/>
        </p:nvSpPr>
        <p:spPr>
          <a:xfrm>
            <a:off x="8115300" y="3771900"/>
            <a:ext cx="3181350" cy="228600"/>
          </a:xfrm>
          <a:prstGeom prst="rect">
            <a:avLst/>
          </a:prstGeom>
          <a:noFill/>
          <a:ln w="0">
            <a:noFill/>
            <a:prstDash val="solid"/>
          </a:ln>
        </p:spPr>
        <p:txBody>
          <a:bodyPr wrap="square" lIns="0" tIns="0" rIns="0" bIns="0" anchor="t">
            <a:normAutofit/>
          </a:bodyPr>
          <a:lstStyle>
            <a:defPPr algn="l">
              <a:defRPr sz="1125" b="1">
                <a:solidFill>
                  <a:srgbClr val="526777"/>
                </a:solidFill>
                <a:latin typeface="Arial"/>
                <a:ea typeface="Arial"/>
                <a:cs typeface="Arial"/>
              </a:defRPr>
            </a:defPPr>
          </a:lstStyle>
          <a:p>
            <a:pPr algn="l">
              <a:lnSpc>
                <a:spcPct val="105000"/>
              </a:lnSpc>
              <a:buNone/>
              <a:defRPr sz="1125" b="1">
                <a:solidFill>
                  <a:srgbClr val="526777"/>
                </a:solidFill>
                <a:latin typeface="Arial"/>
                <a:ea typeface="Arial"/>
                <a:cs typeface="Arial"/>
              </a:defRPr>
            </a:pPr>
            <a:r>
              <a:rPr sz="1125" b="1">
                <a:solidFill>
                  <a:srgbClr val="526777"/>
                </a:solidFill>
                <a:latin typeface="Arial"/>
                <a:ea typeface="Arial"/>
                <a:cs typeface="Arial"/>
              </a:rPr>
              <a:t>MEAN ABSOLUTE ERROR</a:t>
            </a:r>
          </a:p>
        </p:txBody>
      </p:sp>
      <p:sp>
        <p:nvSpPr>
          <p:cNvPr id="9" name="best-model-mae">
            <a:extLst>
              <a:ext uri="{FF2B5EF4-FFF2-40B4-BE49-F238E27FC236}">
                <a16:creationId xmlns:a16="http://schemas.microsoft.com/office/drawing/2014/main" id="{BC67704D-05DA-4EA7-8C85-0670563B96F5}"/>
              </a:ext>
            </a:extLst>
          </p:cNvPr>
          <p:cNvSpPr>
            <a:spLocks noGrp="1"/>
          </p:cNvSpPr>
          <p:nvPr/>
        </p:nvSpPr>
        <p:spPr>
          <a:xfrm>
            <a:off x="8096250" y="4095750"/>
            <a:ext cx="3238500" cy="533400"/>
          </a:xfrm>
          <a:prstGeom prst="rect">
            <a:avLst/>
          </a:prstGeom>
          <a:noFill/>
          <a:ln w="0">
            <a:noFill/>
            <a:prstDash val="solid"/>
          </a:ln>
        </p:spPr>
        <p:txBody>
          <a:bodyPr wrap="square" lIns="0" tIns="0" rIns="0" bIns="0" anchor="t">
            <a:normAutofit/>
          </a:bodyPr>
          <a:lstStyle>
            <a:defPPr algn="l">
              <a:defRPr sz="2850" b="1">
                <a:solidFill>
                  <a:srgbClr val="102A43"/>
                </a:solidFill>
                <a:latin typeface="Arial"/>
                <a:ea typeface="Arial"/>
                <a:cs typeface="Arial"/>
              </a:defRPr>
            </a:defPPr>
          </a:lstStyle>
          <a:p>
            <a:pPr algn="l">
              <a:lnSpc>
                <a:spcPct val="105000"/>
              </a:lnSpc>
              <a:buNone/>
              <a:defRPr sz="2850" b="1">
                <a:solidFill>
                  <a:srgbClr val="102A43"/>
                </a:solidFill>
                <a:latin typeface="Arial"/>
                <a:ea typeface="Arial"/>
                <a:cs typeface="Arial"/>
              </a:defRPr>
            </a:pPr>
            <a:r>
              <a:rPr sz="2850" b="1">
                <a:solidFill>
                  <a:srgbClr val="102A43"/>
                </a:solidFill>
                <a:latin typeface="Arial"/>
                <a:ea typeface="Arial"/>
                <a:cs typeface="Arial"/>
              </a:rPr>
              <a:t>135.5 counts</a:t>
            </a:r>
          </a:p>
        </p:txBody>
      </p:sp>
      <p:sp>
        <p:nvSpPr>
          <p:cNvPr id="10" name="best-model-rmse">
            <a:extLst>
              <a:ext uri="{FF2B5EF4-FFF2-40B4-BE49-F238E27FC236}">
                <a16:creationId xmlns:a16="http://schemas.microsoft.com/office/drawing/2014/main" id="{78CE2758-82BA-4FC4-9E02-3BEDF879DC37}"/>
              </a:ext>
            </a:extLst>
          </p:cNvPr>
          <p:cNvSpPr>
            <a:spLocks noGrp="1"/>
          </p:cNvSpPr>
          <p:nvPr/>
        </p:nvSpPr>
        <p:spPr>
          <a:xfrm>
            <a:off x="8115300" y="4714875"/>
            <a:ext cx="3181350" cy="323850"/>
          </a:xfrm>
          <a:prstGeom prst="rect">
            <a:avLst/>
          </a:prstGeom>
          <a:noFill/>
          <a:ln w="0">
            <a:noFill/>
            <a:prstDash val="solid"/>
          </a:ln>
        </p:spPr>
        <p:txBody>
          <a:bodyPr wrap="square" lIns="0" tIns="0" rIns="0" bIns="0" anchor="t">
            <a:normAutofit/>
          </a:bodyPr>
          <a:lstStyle>
            <a:defPPr algn="l">
              <a:defRPr sz="1350" b="0">
                <a:solidFill>
                  <a:srgbClr val="243B53"/>
                </a:solidFill>
                <a:latin typeface="Arial"/>
                <a:ea typeface="Arial"/>
                <a:cs typeface="Arial"/>
              </a:defRPr>
            </a:defPPr>
          </a:lstStyle>
          <a:p>
            <a:pPr algn="l">
              <a:lnSpc>
                <a:spcPct val="105000"/>
              </a:lnSpc>
              <a:buNone/>
              <a:defRPr sz="1350" b="0">
                <a:solidFill>
                  <a:srgbClr val="243B53"/>
                </a:solidFill>
                <a:latin typeface="Arial"/>
                <a:ea typeface="Arial"/>
                <a:cs typeface="Arial"/>
              </a:defRPr>
            </a:pPr>
            <a:r>
              <a:rPr sz="1350" b="0">
                <a:solidFill>
                  <a:srgbClr val="243B53"/>
                </a:solidFill>
                <a:latin typeface="Arial"/>
                <a:ea typeface="Arial"/>
                <a:cs typeface="Arial"/>
              </a:rPr>
              <a:t>RMSE 168.6 counts · R² 0.901</a:t>
            </a:r>
          </a:p>
        </p:txBody>
      </p:sp>
      <p:sp>
        <p:nvSpPr>
          <p:cNvPr id="11" name="result-caveat">
            <a:extLst>
              <a:ext uri="{FF2B5EF4-FFF2-40B4-BE49-F238E27FC236}">
                <a16:creationId xmlns:a16="http://schemas.microsoft.com/office/drawing/2014/main" id="{F4DBA025-8232-4BB7-B1DE-BE9284C6F015}"/>
              </a:ext>
            </a:extLst>
          </p:cNvPr>
          <p:cNvSpPr>
            <a:spLocks noGrp="1"/>
          </p:cNvSpPr>
          <p:nvPr/>
        </p:nvSpPr>
        <p:spPr>
          <a:xfrm>
            <a:off x="8115300" y="5191125"/>
            <a:ext cx="3181350" cy="685800"/>
          </a:xfrm>
          <a:prstGeom prst="rect">
            <a:avLst/>
          </a:prstGeom>
          <a:noFill/>
          <a:ln w="0">
            <a:noFill/>
            <a:prstDash val="solid"/>
          </a:ln>
        </p:spPr>
        <p:txBody>
          <a:bodyPr wrap="square" lIns="0" tIns="0" rIns="0" bIns="0" anchor="t">
            <a:normAutofit/>
          </a:bodyPr>
          <a:lstStyle>
            <a:defPPr algn="l">
              <a:defRPr sz="1200" b="0">
                <a:solidFill>
                  <a:srgbClr val="B84C4C"/>
                </a:solidFill>
                <a:latin typeface="Arial"/>
                <a:ea typeface="Arial"/>
                <a:cs typeface="Arial"/>
              </a:defRPr>
            </a:defPPr>
          </a:lstStyle>
          <a:p>
            <a:pPr algn="l">
              <a:lnSpc>
                <a:spcPct val="105000"/>
              </a:lnSpc>
              <a:buNone/>
              <a:defRPr sz="1200" b="0">
                <a:solidFill>
                  <a:srgbClr val="B84C4C"/>
                </a:solidFill>
                <a:latin typeface="Arial"/>
                <a:ea typeface="Arial"/>
                <a:cs typeface="Arial"/>
              </a:defRPr>
            </a:pPr>
            <a:r>
              <a:rPr sz="1200" b="0">
                <a:solidFill>
                  <a:srgbClr val="B84C4C"/>
                </a:solidFill>
                <a:latin typeface="Arial"/>
                <a:ea typeface="Arial"/>
                <a:cs typeface="Arial"/>
              </a:rPr>
              <a:t>Quadratic ridge edges quadratic OLS by just 0.03 counts RMSE. Counts are not newtons.</a:t>
            </a:r>
          </a:p>
        </p:txBody>
      </p:sp>
    </p:spTree>
    <p:extLst>
      <p:ext uri="{BB962C8B-B14F-4D97-AF65-F5344CB8AC3E}">
        <p14:creationId xmlns:p14="http://schemas.microsoft.com/office/powerpoint/2010/main" val="1928668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36186E3D-E3CC-49C9-B021-1B0A86DB11F8}"/>
              </a:ext>
            </a:extLst>
          </p:cNvPr>
          <p:cNvSpPr>
            <a:spLocks noGrp="1"/>
          </p:cNvSpPr>
          <p:nvPr/>
        </p:nvSpPr>
        <p:spPr>
          <a:xfrm>
            <a:off x="685800" y="457200"/>
            <a:ext cx="10820400" cy="552450"/>
          </a:xfrm>
          <a:prstGeom prst="rect">
            <a:avLst/>
          </a:prstGeom>
          <a:noFill/>
          <a:ln w="0">
            <a:noFill/>
            <a:prstDash val="solid"/>
          </a:ln>
        </p:spPr>
        <p:txBody>
          <a:bodyPr wrap="square" lIns="0" tIns="0" rIns="0" bIns="0" anchor="t">
            <a:normAutofit/>
          </a:bodyPr>
          <a:lstStyle>
            <a:defPPr algn="l">
              <a:defRPr sz="3000" b="1">
                <a:solidFill>
                  <a:srgbClr val="102A43"/>
                </a:solidFill>
                <a:latin typeface="Arial"/>
                <a:ea typeface="Arial"/>
                <a:cs typeface="Arial"/>
              </a:defRPr>
            </a:defPPr>
          </a:lstStyle>
          <a:p>
            <a:pPr algn="l">
              <a:lnSpc>
                <a:spcPct val="105000"/>
              </a:lnSpc>
              <a:buNone/>
              <a:defRPr sz="3000" b="1">
                <a:solidFill>
                  <a:srgbClr val="102A43"/>
                </a:solidFill>
                <a:latin typeface="Arial"/>
                <a:ea typeface="Arial"/>
                <a:cs typeface="Arial"/>
              </a:defRPr>
            </a:pPr>
            <a:r>
              <a:rPr sz="3000" b="1">
                <a:solidFill>
                  <a:srgbClr val="102A43"/>
                </a:solidFill>
                <a:latin typeface="Arial"/>
                <a:ea typeface="Arial"/>
                <a:cs typeface="Arial"/>
              </a:rPr>
              <a:t>Validation varies by pressure level</a:t>
            </a:r>
          </a:p>
        </p:txBody>
      </p:sp>
      <p:sp>
        <p:nvSpPr>
          <p:cNvPr id="2" name="slide-subtitle">
            <a:extLst>
              <a:ext uri="{FF2B5EF4-FFF2-40B4-BE49-F238E27FC236}">
                <a16:creationId xmlns:a16="http://schemas.microsoft.com/office/drawing/2014/main" id="{717131D3-A320-4346-86B7-90E6D71D5EC0}"/>
              </a:ext>
            </a:extLst>
          </p:cNvPr>
          <p:cNvSpPr>
            <a:spLocks noGrp="1"/>
          </p:cNvSpPr>
          <p:nvPr/>
        </p:nvSpPr>
        <p:spPr>
          <a:xfrm>
            <a:off x="704850" y="1047750"/>
            <a:ext cx="10477500" cy="400050"/>
          </a:xfrm>
          <a:prstGeom prst="rect">
            <a:avLst/>
          </a:prstGeom>
          <a:noFill/>
          <a:ln w="0">
            <a:noFill/>
            <a:prstDash val="solid"/>
          </a:ln>
        </p:spPr>
        <p:txBody>
          <a:bodyPr wrap="square" lIns="0" tIns="0" rIns="0" bIns="0" anchor="t">
            <a:normAutofit/>
          </a:bodyPr>
          <a:lstStyle>
            <a:defPPr algn="l">
              <a:defRPr sz="1575" b="0">
                <a:solidFill>
                  <a:srgbClr val="526777"/>
                </a:solidFill>
                <a:latin typeface="Arial"/>
                <a:ea typeface="Arial"/>
                <a:cs typeface="Arial"/>
              </a:defRPr>
            </a:defPPr>
          </a:lstStyle>
          <a:p>
            <a:pPr algn="l">
              <a:lnSpc>
                <a:spcPct val="105000"/>
              </a:lnSpc>
              <a:buNone/>
              <a:defRPr sz="1575" b="0">
                <a:solidFill>
                  <a:srgbClr val="526777"/>
                </a:solidFill>
                <a:latin typeface="Arial"/>
                <a:ea typeface="Arial"/>
                <a:cs typeface="Arial"/>
              </a:defRPr>
            </a:pPr>
            <a:r>
              <a:rPr sz="1575" b="0">
                <a:solidFill>
                  <a:srgbClr val="526777"/>
                </a:solidFill>
                <a:latin typeface="Arial"/>
                <a:ea typeface="Arial"/>
                <a:cs typeface="Arial"/>
              </a:rPr>
              <a:t>Pooled accuracy is useful, but it does not imply equal performance at every setting</a:t>
            </a:r>
          </a:p>
        </p:txBody>
      </p:sp>
      <p:sp>
        <p:nvSpPr>
          <p:cNvPr id="3" name="title-rule">
            <a:extLst>
              <a:ext uri="{FF2B5EF4-FFF2-40B4-BE49-F238E27FC236}">
                <a16:creationId xmlns:a16="http://schemas.microsoft.com/office/drawing/2014/main" id="{A4E05D95-C225-4F91-81A9-AA8E1BF27489}"/>
              </a:ext>
            </a:extLst>
          </p:cNvPr>
          <p:cNvSpPr>
            <a:spLocks noGrp="1"/>
          </p:cNvSpPr>
          <p:nvPr/>
        </p:nvSpPr>
        <p:spPr>
          <a:xfrm>
            <a:off x="685800" y="1543050"/>
            <a:ext cx="704850" cy="47625"/>
          </a:xfrm>
          <a:prstGeom prst="rect">
            <a:avLst/>
          </a:prstGeom>
          <a:solidFill>
            <a:srgbClr val="EF8354"/>
          </a:solidFill>
          <a:ln w="0">
            <a:noFill/>
            <a:prstDash val="solid"/>
          </a:ln>
        </p:spPr>
      </p:sp>
      <p:sp>
        <p:nvSpPr>
          <p:cNvPr id="4" name="fold-chart-label">
            <a:extLst>
              <a:ext uri="{FF2B5EF4-FFF2-40B4-BE49-F238E27FC236}">
                <a16:creationId xmlns:a16="http://schemas.microsoft.com/office/drawing/2014/main" id="{B745EC82-8C49-431D-AF51-39EDE930B44C}"/>
              </a:ext>
            </a:extLst>
          </p:cNvPr>
          <p:cNvSpPr>
            <a:spLocks noGrp="1"/>
          </p:cNvSpPr>
          <p:nvPr/>
        </p:nvSpPr>
        <p:spPr>
          <a:xfrm>
            <a:off x="800100" y="1943100"/>
            <a:ext cx="5715000" cy="323850"/>
          </a:xfrm>
          <a:prstGeom prst="rect">
            <a:avLst/>
          </a:prstGeom>
          <a:noFill/>
          <a:ln w="0">
            <a:noFill/>
            <a:prstDash val="solid"/>
          </a:ln>
        </p:spPr>
        <p:txBody>
          <a:bodyPr wrap="square" lIns="0" tIns="0" rIns="0" bIns="0" anchor="t">
            <a:normAutofit/>
          </a:bodyPr>
          <a:lstStyle>
            <a:defPPr algn="l">
              <a:defRPr sz="1650" b="1">
                <a:solidFill>
                  <a:srgbClr val="102A43"/>
                </a:solidFill>
                <a:latin typeface="Arial"/>
                <a:ea typeface="Arial"/>
                <a:cs typeface="Arial"/>
              </a:defRPr>
            </a:defPPr>
          </a:lstStyle>
          <a:p>
            <a:pPr algn="l">
              <a:lnSpc>
                <a:spcPct val="105000"/>
              </a:lnSpc>
              <a:buNone/>
              <a:defRPr sz="1650" b="1">
                <a:solidFill>
                  <a:srgbClr val="102A43"/>
                </a:solidFill>
                <a:latin typeface="Arial"/>
                <a:ea typeface="Arial"/>
                <a:cs typeface="Arial"/>
              </a:defRPr>
            </a:pPr>
            <a:r>
              <a:rPr sz="1650" b="1">
                <a:solidFill>
                  <a:srgbClr val="102A43"/>
                </a:solidFill>
                <a:latin typeface="Arial"/>
                <a:ea typeface="Arial"/>
                <a:cs typeface="Arial"/>
              </a:rPr>
              <a:t>R² when each pressure level is held out</a:t>
            </a:r>
          </a:p>
        </p:txBody>
      </p:sp>
      <p:graphicFrame>
        <p:nvGraphicFramePr>
          <p:cNvPr id="5" name="Chart">
            <a:extLst>
              <a:ext uri="{FF2B5EF4-FFF2-40B4-BE49-F238E27FC236}">
                <a16:creationId xmlns:a16="http://schemas.microsoft.com/office/drawing/2014/main" id="{0302A044-21D7-4AE8-A29E-7F4245B67C73}"/>
              </a:ext>
            </a:extLst>
          </p:cNvPr>
          <p:cNvGraphicFramePr/>
          <p:nvPr/>
        </p:nvGraphicFramePr>
        <p:xfrm>
          <a:off x="647700" y="2362200"/>
          <a:ext cx="6572250"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6" name="interpretation-divider">
            <a:extLst>
              <a:ext uri="{FF2B5EF4-FFF2-40B4-BE49-F238E27FC236}">
                <a16:creationId xmlns:a16="http://schemas.microsoft.com/office/drawing/2014/main" id="{B0FD3D1F-BC61-41FA-9590-0DED2A5AFAAB}"/>
              </a:ext>
            </a:extLst>
          </p:cNvPr>
          <p:cNvSpPr>
            <a:spLocks noGrp="1"/>
          </p:cNvSpPr>
          <p:nvPr/>
        </p:nvSpPr>
        <p:spPr>
          <a:xfrm>
            <a:off x="7524750" y="2190750"/>
            <a:ext cx="0" cy="3524250"/>
          </a:xfrm>
          <a:prstGeom prst="line">
            <a:avLst/>
          </a:prstGeom>
          <a:noFill/>
          <a:ln w="19050">
            <a:solidFill>
              <a:srgbClr val="D4DEE3"/>
            </a:solidFill>
            <a:prstDash val="solid"/>
          </a:ln>
        </p:spPr>
      </p:sp>
      <p:sp>
        <p:nvSpPr>
          <p:cNvPr id="7" name="fold-insight-heading">
            <a:extLst>
              <a:ext uri="{FF2B5EF4-FFF2-40B4-BE49-F238E27FC236}">
                <a16:creationId xmlns:a16="http://schemas.microsoft.com/office/drawing/2014/main" id="{8DBF0514-3404-4005-90FD-A874C39EB666}"/>
              </a:ext>
            </a:extLst>
          </p:cNvPr>
          <p:cNvSpPr>
            <a:spLocks noGrp="1"/>
          </p:cNvSpPr>
          <p:nvPr/>
        </p:nvSpPr>
        <p:spPr>
          <a:xfrm>
            <a:off x="7953375" y="2381250"/>
            <a:ext cx="3333750" cy="342900"/>
          </a:xfrm>
          <a:prstGeom prst="rect">
            <a:avLst/>
          </a:prstGeom>
          <a:noFill/>
          <a:ln w="0">
            <a:noFill/>
            <a:prstDash val="solid"/>
          </a:ln>
        </p:spPr>
        <p:txBody>
          <a:bodyPr wrap="square" lIns="0" tIns="0" rIns="0" bIns="0" anchor="t">
            <a:normAutofit/>
          </a:bodyPr>
          <a:lstStyle>
            <a:defPPr algn="l">
              <a:defRPr sz="1875" b="1">
                <a:solidFill>
                  <a:srgbClr val="168E92"/>
                </a:solidFill>
                <a:latin typeface="Arial"/>
                <a:ea typeface="Arial"/>
                <a:cs typeface="Arial"/>
              </a:defRPr>
            </a:defPPr>
          </a:lstStyle>
          <a:p>
            <a:pPr algn="l">
              <a:lnSpc>
                <a:spcPct val="105000"/>
              </a:lnSpc>
              <a:buNone/>
              <a:defRPr sz="1875" b="1">
                <a:solidFill>
                  <a:srgbClr val="168E92"/>
                </a:solidFill>
                <a:latin typeface="Arial"/>
                <a:ea typeface="Arial"/>
                <a:cs typeface="Arial"/>
              </a:defRPr>
            </a:pPr>
            <a:r>
              <a:rPr sz="1875" b="1">
                <a:solidFill>
                  <a:srgbClr val="168E92"/>
                </a:solidFill>
                <a:latin typeface="Arial"/>
                <a:ea typeface="Arial"/>
                <a:cs typeface="Arial"/>
              </a:rPr>
              <a:t>Fold-level insight</a:t>
            </a:r>
          </a:p>
        </p:txBody>
      </p:sp>
      <p:sp>
        <p:nvSpPr>
          <p:cNvPr id="8" name="fold-insight">
            <a:extLst>
              <a:ext uri="{FF2B5EF4-FFF2-40B4-BE49-F238E27FC236}">
                <a16:creationId xmlns:a16="http://schemas.microsoft.com/office/drawing/2014/main" id="{E29EC48D-609B-41E4-B41F-F55B8B037C0F}"/>
              </a:ext>
            </a:extLst>
          </p:cNvPr>
          <p:cNvSpPr>
            <a:spLocks noGrp="1"/>
          </p:cNvSpPr>
          <p:nvPr/>
        </p:nvSpPr>
        <p:spPr>
          <a:xfrm>
            <a:off x="7953375" y="2847975"/>
            <a:ext cx="3314700" cy="876300"/>
          </a:xfrm>
          <a:prstGeom prst="rect">
            <a:avLst/>
          </a:prstGeom>
          <a:noFill/>
          <a:ln w="0">
            <a:noFill/>
            <a:prstDash val="solid"/>
          </a:ln>
        </p:spPr>
        <p:txBody>
          <a:bodyPr wrap="square" lIns="0" tIns="0" rIns="0" bIns="0" anchor="t">
            <a:normAutofit/>
          </a:bodyPr>
          <a:lstStyle>
            <a:defPPr algn="l">
              <a:defRPr sz="1500" b="0">
                <a:solidFill>
                  <a:srgbClr val="243B53"/>
                </a:solidFill>
                <a:latin typeface="Arial"/>
                <a:ea typeface="Arial"/>
                <a:cs typeface="Arial"/>
              </a:defRPr>
            </a:defPPr>
          </a:lstStyle>
          <a:p>
            <a:pPr algn="l">
              <a:lnSpc>
                <a:spcPct val="105000"/>
              </a:lnSpc>
              <a:buNone/>
              <a:defRPr sz="1500" b="0">
                <a:solidFill>
                  <a:srgbClr val="243B53"/>
                </a:solidFill>
                <a:latin typeface="Arial"/>
                <a:ea typeface="Arial"/>
                <a:cs typeface="Arial"/>
              </a:defRPr>
            </a:pPr>
            <a:r>
              <a:rPr sz="1500" b="0">
                <a:solidFill>
                  <a:srgbClr val="243B53"/>
                </a:solidFill>
                <a:latin typeface="Arial"/>
                <a:ea typeface="Arial"/>
                <a:cs typeface="Arial"/>
              </a:rPr>
              <a:t>The 0 and 50 kPa folds are much harder to predict than most middle and high pressure folds.</a:t>
            </a:r>
          </a:p>
        </p:txBody>
      </p:sp>
      <p:sp>
        <p:nvSpPr>
          <p:cNvPr id="9" name="fold-limits-heading">
            <a:extLst>
              <a:ext uri="{FF2B5EF4-FFF2-40B4-BE49-F238E27FC236}">
                <a16:creationId xmlns:a16="http://schemas.microsoft.com/office/drawing/2014/main" id="{F420B356-7A16-4FFA-941C-7E2796A30135}"/>
              </a:ext>
            </a:extLst>
          </p:cNvPr>
          <p:cNvSpPr>
            <a:spLocks noGrp="1"/>
          </p:cNvSpPr>
          <p:nvPr/>
        </p:nvSpPr>
        <p:spPr>
          <a:xfrm>
            <a:off x="7953375" y="4019550"/>
            <a:ext cx="3333750" cy="342900"/>
          </a:xfrm>
          <a:prstGeom prst="rect">
            <a:avLst/>
          </a:prstGeom>
          <a:noFill/>
          <a:ln w="0">
            <a:noFill/>
            <a:prstDash val="solid"/>
          </a:ln>
        </p:spPr>
        <p:txBody>
          <a:bodyPr wrap="square" lIns="0" tIns="0" rIns="0" bIns="0" anchor="t">
            <a:normAutofit/>
          </a:bodyPr>
          <a:lstStyle>
            <a:defPPr algn="l">
              <a:defRPr sz="1875" b="1">
                <a:solidFill>
                  <a:srgbClr val="EF8354"/>
                </a:solidFill>
                <a:latin typeface="Arial"/>
                <a:ea typeface="Arial"/>
                <a:cs typeface="Arial"/>
              </a:defRPr>
            </a:defPPr>
          </a:lstStyle>
          <a:p>
            <a:pPr algn="l">
              <a:lnSpc>
                <a:spcPct val="105000"/>
              </a:lnSpc>
              <a:buNone/>
              <a:defRPr sz="1875" b="1">
                <a:solidFill>
                  <a:srgbClr val="EF8354"/>
                </a:solidFill>
                <a:latin typeface="Arial"/>
                <a:ea typeface="Arial"/>
                <a:cs typeface="Arial"/>
              </a:defRPr>
            </a:pPr>
            <a:r>
              <a:rPr sz="1875" b="1">
                <a:solidFill>
                  <a:srgbClr val="EF8354"/>
                </a:solidFill>
                <a:latin typeface="Arial"/>
                <a:ea typeface="Arial"/>
                <a:cs typeface="Arial"/>
              </a:rPr>
              <a:t>Interpretation</a:t>
            </a:r>
          </a:p>
        </p:txBody>
      </p:sp>
      <p:sp>
        <p:nvSpPr>
          <p:cNvPr id="10" name="fold-limits">
            <a:extLst>
              <a:ext uri="{FF2B5EF4-FFF2-40B4-BE49-F238E27FC236}">
                <a16:creationId xmlns:a16="http://schemas.microsoft.com/office/drawing/2014/main" id="{00A33665-D9AF-4E7E-BA52-193511B0AC4A}"/>
              </a:ext>
            </a:extLst>
          </p:cNvPr>
          <p:cNvSpPr>
            <a:spLocks noGrp="1"/>
          </p:cNvSpPr>
          <p:nvPr/>
        </p:nvSpPr>
        <p:spPr>
          <a:xfrm>
            <a:off x="7953375" y="4476750"/>
            <a:ext cx="3314700" cy="1123950"/>
          </a:xfrm>
          <a:prstGeom prst="rect">
            <a:avLst/>
          </a:prstGeom>
          <a:noFill/>
          <a:ln w="0">
            <a:noFill/>
            <a:prstDash val="solid"/>
          </a:ln>
        </p:spPr>
        <p:txBody>
          <a:bodyPr wrap="square" lIns="0" tIns="0" rIns="0" bIns="0" anchor="t">
            <a:normAutofit/>
          </a:bodyPr>
          <a:lstStyle>
            <a:defPPr algn="l">
              <a:defRPr sz="1425" b="0">
                <a:solidFill>
                  <a:srgbClr val="243B53"/>
                </a:solidFill>
                <a:latin typeface="Arial"/>
                <a:ea typeface="Arial"/>
                <a:cs typeface="Arial"/>
              </a:defRPr>
            </a:defPPr>
          </a:lstStyle>
          <a:p>
            <a:pPr algn="l">
              <a:lnSpc>
                <a:spcPct val="105000"/>
              </a:lnSpc>
              <a:buNone/>
              <a:defRPr sz="1425" b="0">
                <a:solidFill>
                  <a:srgbClr val="243B53"/>
                </a:solidFill>
                <a:latin typeface="Arial"/>
                <a:ea typeface="Arial"/>
                <a:cs typeface="Arial"/>
              </a:defRPr>
            </a:pPr>
            <a:r>
              <a:rPr sz="1425" b="0">
                <a:solidFill>
                  <a:srgbClr val="243B53"/>
                </a:solidFill>
                <a:latin typeface="Arial"/>
                <a:ea typeface="Arial"/>
                <a:cs typeface="Arial"/>
              </a:rPr>
              <a:t>The two quadratic models are essentially tied. These results apply to one actuator and one setup; they do not establish material-independent behavior.</a:t>
            </a:r>
          </a:p>
        </p:txBody>
      </p:sp>
    </p:spTree>
    <p:extLst>
      <p:ext uri="{BB962C8B-B14F-4D97-AF65-F5344CB8AC3E}">
        <p14:creationId xmlns:p14="http://schemas.microsoft.com/office/powerpoint/2010/main" val="1401068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18" name="next-title">
            <a:extLst>
              <a:ext uri="{FF2B5EF4-FFF2-40B4-BE49-F238E27FC236}">
                <a16:creationId xmlns:a16="http://schemas.microsoft.com/office/drawing/2014/main" id="{33348CF7-9F53-4730-A42C-C9D9753166B5}"/>
              </a:ext>
            </a:extLst>
          </p:cNvPr>
          <p:cNvSpPr>
            <a:spLocks noGrp="1"/>
          </p:cNvSpPr>
          <p:nvPr/>
        </p:nvSpPr>
        <p:spPr>
          <a:xfrm>
            <a:off x="742950" y="552450"/>
            <a:ext cx="6191250" cy="571500"/>
          </a:xfrm>
          <a:prstGeom prst="rect">
            <a:avLst/>
          </a:prstGeom>
          <a:noFill/>
          <a:ln w="0">
            <a:noFill/>
            <a:prstDash val="solid"/>
          </a:ln>
        </p:spPr>
        <p:txBody>
          <a:bodyPr wrap="square" lIns="0" tIns="0" rIns="0" bIns="0" anchor="t">
            <a:normAutofit/>
          </a:bodyPr>
          <a:lstStyle>
            <a:defPPr algn="l">
              <a:defRPr sz="3150" b="1">
                <a:solidFill>
                  <a:srgbClr val="FFFFFF"/>
                </a:solidFill>
                <a:latin typeface="Arial"/>
                <a:ea typeface="Arial"/>
                <a:cs typeface="Arial"/>
              </a:defRPr>
            </a:defPPr>
          </a:lstStyle>
          <a:p>
            <a:pPr algn="l">
              <a:lnSpc>
                <a:spcPct val="105000"/>
              </a:lnSpc>
              <a:buNone/>
              <a:defRPr sz="3150" b="1">
                <a:solidFill>
                  <a:srgbClr val="FFFFFF"/>
                </a:solidFill>
                <a:latin typeface="Arial"/>
                <a:ea typeface="Arial"/>
                <a:cs typeface="Arial"/>
              </a:defRPr>
            </a:pPr>
            <a:r>
              <a:rPr sz="3150" b="1">
                <a:solidFill>
                  <a:srgbClr val="FFFFFF"/>
                </a:solidFill>
                <a:latin typeface="Arial"/>
                <a:ea typeface="Arial"/>
                <a:cs typeface="Arial"/>
              </a:rPr>
              <a:t>Next steps</a:t>
            </a:r>
          </a:p>
        </p:txBody>
      </p:sp>
      <p:sp>
        <p:nvSpPr>
          <p:cNvPr id="2" name="next-subtitle">
            <a:extLst>
              <a:ext uri="{FF2B5EF4-FFF2-40B4-BE49-F238E27FC236}">
                <a16:creationId xmlns:a16="http://schemas.microsoft.com/office/drawing/2014/main" id="{53390932-8E15-455C-84B2-E7D75A226CEF}"/>
              </a:ext>
            </a:extLst>
          </p:cNvPr>
          <p:cNvSpPr>
            <a:spLocks noGrp="1"/>
          </p:cNvSpPr>
          <p:nvPr/>
        </p:nvSpPr>
        <p:spPr>
          <a:xfrm>
            <a:off x="762000" y="1181100"/>
            <a:ext cx="7620000" cy="361950"/>
          </a:xfrm>
          <a:prstGeom prst="rect">
            <a:avLst/>
          </a:prstGeom>
          <a:noFill/>
          <a:ln w="0">
            <a:noFill/>
            <a:prstDash val="solid"/>
          </a:ln>
        </p:spPr>
        <p:txBody>
          <a:bodyPr wrap="square" lIns="0" tIns="0" rIns="0" bIns="0" anchor="t">
            <a:normAutofit/>
          </a:bodyPr>
          <a:lstStyle>
            <a:defPPr algn="l">
              <a:defRPr sz="1650" b="0">
                <a:solidFill>
                  <a:srgbClr val="D5E2EA"/>
                </a:solidFill>
                <a:latin typeface="Arial"/>
                <a:ea typeface="Arial"/>
                <a:cs typeface="Arial"/>
              </a:defRPr>
            </a:defPPr>
          </a:lstStyle>
          <a:p>
            <a:pPr algn="l">
              <a:lnSpc>
                <a:spcPct val="105000"/>
              </a:lnSpc>
              <a:buNone/>
              <a:defRPr sz="1650" b="0">
                <a:solidFill>
                  <a:srgbClr val="D5E2EA"/>
                </a:solidFill>
                <a:latin typeface="Arial"/>
                <a:ea typeface="Arial"/>
                <a:cs typeface="Arial"/>
              </a:defRPr>
            </a:pPr>
            <a:r>
              <a:rPr sz="1650" b="0">
                <a:solidFill>
                  <a:srgbClr val="D5E2EA"/>
                </a:solidFill>
                <a:latin typeface="Arial"/>
                <a:ea typeface="Arial"/>
                <a:cs typeface="Arial"/>
              </a:rPr>
              <a:t>Turn a promising fit into a defensible robotics result</a:t>
            </a:r>
          </a:p>
        </p:txBody>
      </p:sp>
      <p:sp>
        <p:nvSpPr>
          <p:cNvPr id="3" name="next-number-0">
            <a:extLst>
              <a:ext uri="{FF2B5EF4-FFF2-40B4-BE49-F238E27FC236}">
                <a16:creationId xmlns:a16="http://schemas.microsoft.com/office/drawing/2014/main" id="{D51905A2-2E9C-4819-8C9D-5DEC8786F51A}"/>
              </a:ext>
            </a:extLst>
          </p:cNvPr>
          <p:cNvSpPr>
            <a:spLocks noGrp="1"/>
          </p:cNvSpPr>
          <p:nvPr/>
        </p:nvSpPr>
        <p:spPr>
          <a:xfrm>
            <a:off x="857250" y="2143125"/>
            <a:ext cx="609600" cy="400050"/>
          </a:xfrm>
          <a:prstGeom prst="rect">
            <a:avLst/>
          </a:prstGeom>
          <a:noFill/>
          <a:ln w="0">
            <a:noFill/>
            <a:prstDash val="solid"/>
          </a:ln>
        </p:spPr>
        <p:txBody>
          <a:bodyPr wrap="square" lIns="0" tIns="0" rIns="0" bIns="0" anchor="t">
            <a:normAutofit/>
          </a:bodyPr>
          <a:lstStyle>
            <a:defPPr algn="l">
              <a:defRPr sz="1875" b="1">
                <a:solidFill>
                  <a:srgbClr val="E6B85C"/>
                </a:solidFill>
                <a:latin typeface="Arial"/>
                <a:ea typeface="Arial"/>
                <a:cs typeface="Arial"/>
              </a:defRPr>
            </a:defPPr>
          </a:lstStyle>
          <a:p>
            <a:pPr algn="l">
              <a:lnSpc>
                <a:spcPct val="105000"/>
              </a:lnSpc>
              <a:buNone/>
              <a:defRPr sz="1875" b="1">
                <a:solidFill>
                  <a:srgbClr val="E6B85C"/>
                </a:solidFill>
                <a:latin typeface="Arial"/>
                <a:ea typeface="Arial"/>
                <a:cs typeface="Arial"/>
              </a:defRPr>
            </a:pPr>
            <a:r>
              <a:rPr sz="1875" b="1">
                <a:solidFill>
                  <a:srgbClr val="E6B85C"/>
                </a:solidFill>
                <a:latin typeface="Arial"/>
                <a:ea typeface="Arial"/>
                <a:cs typeface="Arial"/>
              </a:rPr>
              <a:t>01</a:t>
            </a:r>
          </a:p>
        </p:txBody>
      </p:sp>
      <p:sp>
        <p:nvSpPr>
          <p:cNvPr id="4" name="next-heading-0">
            <a:extLst>
              <a:ext uri="{FF2B5EF4-FFF2-40B4-BE49-F238E27FC236}">
                <a16:creationId xmlns:a16="http://schemas.microsoft.com/office/drawing/2014/main" id="{628DFE95-9C5F-4E2C-BB1F-1CD3F2F386A6}"/>
              </a:ext>
            </a:extLst>
          </p:cNvPr>
          <p:cNvSpPr>
            <a:spLocks noGrp="1"/>
          </p:cNvSpPr>
          <p:nvPr/>
        </p:nvSpPr>
        <p:spPr>
          <a:xfrm>
            <a:off x="1619250" y="2143125"/>
            <a:ext cx="3048000" cy="342900"/>
          </a:xfrm>
          <a:prstGeom prst="rect">
            <a:avLst/>
          </a:prstGeom>
          <a:noFill/>
          <a:ln w="0">
            <a:noFill/>
            <a:prstDash val="solid"/>
          </a:ln>
        </p:spPr>
        <p:txBody>
          <a:bodyPr wrap="square" lIns="0" tIns="0" rIns="0" bIns="0" anchor="t">
            <a:normAutofit/>
          </a:bodyPr>
          <a:lstStyle>
            <a:defPPr algn="l">
              <a:defRPr sz="1800" b="1">
                <a:solidFill>
                  <a:srgbClr val="FFFFFF"/>
                </a:solidFill>
                <a:latin typeface="Arial"/>
                <a:ea typeface="Arial"/>
                <a:cs typeface="Arial"/>
              </a:defRPr>
            </a:defPPr>
          </a:lstStyle>
          <a:p>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Recover calibration</a:t>
            </a:r>
          </a:p>
        </p:txBody>
      </p:sp>
      <p:sp>
        <p:nvSpPr>
          <p:cNvPr id="5" name="next-detail-0">
            <a:extLst>
              <a:ext uri="{FF2B5EF4-FFF2-40B4-BE49-F238E27FC236}">
                <a16:creationId xmlns:a16="http://schemas.microsoft.com/office/drawing/2014/main" id="{89C91CB1-B788-4430-8416-1E9AE56485A6}"/>
              </a:ext>
            </a:extLst>
          </p:cNvPr>
          <p:cNvSpPr>
            <a:spLocks noGrp="1"/>
          </p:cNvSpPr>
          <p:nvPr/>
        </p:nvSpPr>
        <p:spPr>
          <a:xfrm>
            <a:off x="4857750" y="2143125"/>
            <a:ext cx="6191250" cy="495300"/>
          </a:xfrm>
          <a:prstGeom prst="rect">
            <a:avLst/>
          </a:prstGeom>
          <a:noFill/>
          <a:ln w="0">
            <a:noFill/>
            <a:prstDash val="solid"/>
          </a:ln>
        </p:spPr>
        <p:txBody>
          <a:bodyPr wrap="square" lIns="0" tIns="0" rIns="0" bIns="0" anchor="t">
            <a:normAutofit/>
          </a:bodyPr>
          <a:lstStyle>
            <a:defPPr algn="l">
              <a:defRPr sz="1425" b="0">
                <a:solidFill>
                  <a:srgbClr val="D5E2EA"/>
                </a:solidFill>
                <a:latin typeface="Arial"/>
                <a:ea typeface="Arial"/>
                <a:cs typeface="Arial"/>
              </a:defRPr>
            </a:defPPr>
          </a:lstStyle>
          <a:p>
            <a:pPr algn="l">
              <a:lnSpc>
                <a:spcPct val="105000"/>
              </a:lnSpc>
              <a:buNone/>
              <a:defRPr sz="1425" b="0">
                <a:solidFill>
                  <a:srgbClr val="D5E2EA"/>
                </a:solidFill>
                <a:latin typeface="Arial"/>
                <a:ea typeface="Arial"/>
                <a:cs typeface="Arial"/>
              </a:defRPr>
            </a:pPr>
            <a:r>
              <a:rPr sz="1425" b="0">
                <a:solidFill>
                  <a:srgbClr val="D5E2EA"/>
                </a:solidFill>
                <a:latin typeface="Arial"/>
                <a:ea typeface="Arial"/>
                <a:cs typeface="Arial"/>
              </a:rPr>
              <a:t>Convert load-cell outputs to newtons from the original calibration data.</a:t>
            </a:r>
          </a:p>
        </p:txBody>
      </p:sp>
      <p:sp>
        <p:nvSpPr>
          <p:cNvPr id="6" name="next-rule-0">
            <a:extLst>
              <a:ext uri="{FF2B5EF4-FFF2-40B4-BE49-F238E27FC236}">
                <a16:creationId xmlns:a16="http://schemas.microsoft.com/office/drawing/2014/main" id="{6AB8FA64-97D1-4CCE-9F09-F6732DF544B2}"/>
              </a:ext>
            </a:extLst>
          </p:cNvPr>
          <p:cNvSpPr>
            <a:spLocks noGrp="1"/>
          </p:cNvSpPr>
          <p:nvPr/>
        </p:nvSpPr>
        <p:spPr>
          <a:xfrm>
            <a:off x="1619250" y="2771775"/>
            <a:ext cx="9429750" cy="0"/>
          </a:xfrm>
          <a:prstGeom prst="line">
            <a:avLst/>
          </a:prstGeom>
          <a:noFill/>
          <a:ln w="9525">
            <a:solidFill>
              <a:srgbClr val="35566D"/>
            </a:solidFill>
            <a:prstDash val="solid"/>
          </a:ln>
        </p:spPr>
      </p:sp>
      <p:sp>
        <p:nvSpPr>
          <p:cNvPr id="7" name="next-number-1">
            <a:extLst>
              <a:ext uri="{FF2B5EF4-FFF2-40B4-BE49-F238E27FC236}">
                <a16:creationId xmlns:a16="http://schemas.microsoft.com/office/drawing/2014/main" id="{D429F1BE-6BD8-4C57-BAEE-948C847319B4}"/>
              </a:ext>
            </a:extLst>
          </p:cNvPr>
          <p:cNvSpPr>
            <a:spLocks noGrp="1"/>
          </p:cNvSpPr>
          <p:nvPr/>
        </p:nvSpPr>
        <p:spPr>
          <a:xfrm>
            <a:off x="857250" y="3095625"/>
            <a:ext cx="609600" cy="400050"/>
          </a:xfrm>
          <a:prstGeom prst="rect">
            <a:avLst/>
          </a:prstGeom>
          <a:noFill/>
          <a:ln w="0">
            <a:noFill/>
            <a:prstDash val="solid"/>
          </a:ln>
        </p:spPr>
        <p:txBody>
          <a:bodyPr wrap="square" lIns="0" tIns="0" rIns="0" bIns="0" anchor="t">
            <a:normAutofit/>
          </a:bodyPr>
          <a:lstStyle>
            <a:defPPr algn="l">
              <a:defRPr sz="1875" b="1">
                <a:solidFill>
                  <a:srgbClr val="E6B85C"/>
                </a:solidFill>
                <a:latin typeface="Arial"/>
                <a:ea typeface="Arial"/>
                <a:cs typeface="Arial"/>
              </a:defRPr>
            </a:defPPr>
          </a:lstStyle>
          <a:p>
            <a:pPr algn="l">
              <a:lnSpc>
                <a:spcPct val="105000"/>
              </a:lnSpc>
              <a:buNone/>
              <a:defRPr sz="1875" b="1">
                <a:solidFill>
                  <a:srgbClr val="E6B85C"/>
                </a:solidFill>
                <a:latin typeface="Arial"/>
                <a:ea typeface="Arial"/>
                <a:cs typeface="Arial"/>
              </a:defRPr>
            </a:pPr>
            <a:r>
              <a:rPr sz="1875" b="1">
                <a:solidFill>
                  <a:srgbClr val="E6B85C"/>
                </a:solidFill>
                <a:latin typeface="Arial"/>
                <a:ea typeface="Arial"/>
                <a:cs typeface="Arial"/>
              </a:rPr>
              <a:t>02</a:t>
            </a:r>
          </a:p>
        </p:txBody>
      </p:sp>
      <p:sp>
        <p:nvSpPr>
          <p:cNvPr id="8" name="next-heading-1">
            <a:extLst>
              <a:ext uri="{FF2B5EF4-FFF2-40B4-BE49-F238E27FC236}">
                <a16:creationId xmlns:a16="http://schemas.microsoft.com/office/drawing/2014/main" id="{331F92E1-6448-477B-87A7-4A4C6DD53B18}"/>
              </a:ext>
            </a:extLst>
          </p:cNvPr>
          <p:cNvSpPr>
            <a:spLocks noGrp="1"/>
          </p:cNvSpPr>
          <p:nvPr/>
        </p:nvSpPr>
        <p:spPr>
          <a:xfrm>
            <a:off x="1619250" y="3095625"/>
            <a:ext cx="3048000" cy="342900"/>
          </a:xfrm>
          <a:prstGeom prst="rect">
            <a:avLst/>
          </a:prstGeom>
          <a:noFill/>
          <a:ln w="0">
            <a:noFill/>
            <a:prstDash val="solid"/>
          </a:ln>
        </p:spPr>
        <p:txBody>
          <a:bodyPr wrap="square" lIns="0" tIns="0" rIns="0" bIns="0" anchor="t">
            <a:normAutofit/>
          </a:bodyPr>
          <a:lstStyle>
            <a:defPPr algn="l">
              <a:defRPr sz="1800" b="1">
                <a:solidFill>
                  <a:srgbClr val="FFFFFF"/>
                </a:solidFill>
                <a:latin typeface="Arial"/>
                <a:ea typeface="Arial"/>
                <a:cs typeface="Arial"/>
              </a:defRPr>
            </a:defPPr>
          </a:lstStyle>
          <a:p>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Validate alignment</a:t>
            </a:r>
          </a:p>
        </p:txBody>
      </p:sp>
      <p:sp>
        <p:nvSpPr>
          <p:cNvPr id="9" name="next-detail-1">
            <a:extLst>
              <a:ext uri="{FF2B5EF4-FFF2-40B4-BE49-F238E27FC236}">
                <a16:creationId xmlns:a16="http://schemas.microsoft.com/office/drawing/2014/main" id="{81058E56-B7A4-42D0-8B50-4081A6CE7AE4}"/>
              </a:ext>
            </a:extLst>
          </p:cNvPr>
          <p:cNvSpPr>
            <a:spLocks noGrp="1"/>
          </p:cNvSpPr>
          <p:nvPr/>
        </p:nvSpPr>
        <p:spPr>
          <a:xfrm>
            <a:off x="4857750" y="3095625"/>
            <a:ext cx="6191250" cy="495300"/>
          </a:xfrm>
          <a:prstGeom prst="rect">
            <a:avLst/>
          </a:prstGeom>
          <a:noFill/>
          <a:ln w="0">
            <a:noFill/>
            <a:prstDash val="solid"/>
          </a:ln>
        </p:spPr>
        <p:txBody>
          <a:bodyPr wrap="square" lIns="0" tIns="0" rIns="0" bIns="0" anchor="t">
            <a:normAutofit/>
          </a:bodyPr>
          <a:lstStyle>
            <a:defPPr algn="l">
              <a:defRPr sz="1425" b="0">
                <a:solidFill>
                  <a:srgbClr val="D5E2EA"/>
                </a:solidFill>
                <a:latin typeface="Arial"/>
                <a:ea typeface="Arial"/>
                <a:cs typeface="Arial"/>
              </a:defRPr>
            </a:defPPr>
          </a:lstStyle>
          <a:p>
            <a:pPr algn="l">
              <a:lnSpc>
                <a:spcPct val="105000"/>
              </a:lnSpc>
              <a:buNone/>
              <a:defRPr sz="1425" b="0">
                <a:solidFill>
                  <a:srgbClr val="D5E2EA"/>
                </a:solidFill>
                <a:latin typeface="Arial"/>
                <a:ea typeface="Arial"/>
                <a:cs typeface="Arial"/>
              </a:defRPr>
            </a:pPr>
            <a:r>
              <a:rPr sz="1425" b="0">
                <a:solidFill>
                  <a:srgbClr val="D5E2EA"/>
                </a:solidFill>
                <a:latin typeface="Arial"/>
                <a:ea typeface="Arial"/>
                <a:cs typeface="Arial"/>
              </a:rPr>
              <a:t>Check pressure, position, and force timestamps against the source plotting workflow.</a:t>
            </a:r>
          </a:p>
        </p:txBody>
      </p:sp>
      <p:sp>
        <p:nvSpPr>
          <p:cNvPr id="10" name="next-rule-1">
            <a:extLst>
              <a:ext uri="{FF2B5EF4-FFF2-40B4-BE49-F238E27FC236}">
                <a16:creationId xmlns:a16="http://schemas.microsoft.com/office/drawing/2014/main" id="{E4834730-423A-41A0-8749-A4BF469968D6}"/>
              </a:ext>
            </a:extLst>
          </p:cNvPr>
          <p:cNvSpPr>
            <a:spLocks noGrp="1"/>
          </p:cNvSpPr>
          <p:nvPr/>
        </p:nvSpPr>
        <p:spPr>
          <a:xfrm>
            <a:off x="1619250" y="3724275"/>
            <a:ext cx="9429750" cy="0"/>
          </a:xfrm>
          <a:prstGeom prst="line">
            <a:avLst/>
          </a:prstGeom>
          <a:noFill/>
          <a:ln w="9525">
            <a:solidFill>
              <a:srgbClr val="35566D"/>
            </a:solidFill>
            <a:prstDash val="solid"/>
          </a:ln>
        </p:spPr>
      </p:sp>
      <p:sp>
        <p:nvSpPr>
          <p:cNvPr id="11" name="next-number-2">
            <a:extLst>
              <a:ext uri="{FF2B5EF4-FFF2-40B4-BE49-F238E27FC236}">
                <a16:creationId xmlns:a16="http://schemas.microsoft.com/office/drawing/2014/main" id="{8958FFC0-75D7-4ED5-8F57-345515C4ABAC}"/>
              </a:ext>
            </a:extLst>
          </p:cNvPr>
          <p:cNvSpPr>
            <a:spLocks noGrp="1"/>
          </p:cNvSpPr>
          <p:nvPr/>
        </p:nvSpPr>
        <p:spPr>
          <a:xfrm>
            <a:off x="857250" y="4048125"/>
            <a:ext cx="609600" cy="400050"/>
          </a:xfrm>
          <a:prstGeom prst="rect">
            <a:avLst/>
          </a:prstGeom>
          <a:noFill/>
          <a:ln w="0">
            <a:noFill/>
            <a:prstDash val="solid"/>
          </a:ln>
        </p:spPr>
        <p:txBody>
          <a:bodyPr wrap="square" lIns="0" tIns="0" rIns="0" bIns="0" anchor="t">
            <a:normAutofit/>
          </a:bodyPr>
          <a:lstStyle>
            <a:defPPr algn="l">
              <a:defRPr sz="1875" b="1">
                <a:solidFill>
                  <a:srgbClr val="E6B85C"/>
                </a:solidFill>
                <a:latin typeface="Arial"/>
                <a:ea typeface="Arial"/>
                <a:cs typeface="Arial"/>
              </a:defRPr>
            </a:defPPr>
          </a:lstStyle>
          <a:p>
            <a:pPr algn="l">
              <a:lnSpc>
                <a:spcPct val="105000"/>
              </a:lnSpc>
              <a:buNone/>
              <a:defRPr sz="1875" b="1">
                <a:solidFill>
                  <a:srgbClr val="E6B85C"/>
                </a:solidFill>
                <a:latin typeface="Arial"/>
                <a:ea typeface="Arial"/>
                <a:cs typeface="Arial"/>
              </a:defRPr>
            </a:pPr>
            <a:r>
              <a:rPr sz="1875" b="1">
                <a:solidFill>
                  <a:srgbClr val="E6B85C"/>
                </a:solidFill>
                <a:latin typeface="Arial"/>
                <a:ea typeface="Arial"/>
                <a:cs typeface="Arial"/>
              </a:rPr>
              <a:t>03</a:t>
            </a:r>
          </a:p>
        </p:txBody>
      </p:sp>
      <p:sp>
        <p:nvSpPr>
          <p:cNvPr id="12" name="next-heading-2">
            <a:extLst>
              <a:ext uri="{FF2B5EF4-FFF2-40B4-BE49-F238E27FC236}">
                <a16:creationId xmlns:a16="http://schemas.microsoft.com/office/drawing/2014/main" id="{95AB1461-863A-421B-8A14-C1E8D6CAB55E}"/>
              </a:ext>
            </a:extLst>
          </p:cNvPr>
          <p:cNvSpPr>
            <a:spLocks noGrp="1"/>
          </p:cNvSpPr>
          <p:nvPr/>
        </p:nvSpPr>
        <p:spPr>
          <a:xfrm>
            <a:off x="1619250" y="4048125"/>
            <a:ext cx="3048000" cy="342900"/>
          </a:xfrm>
          <a:prstGeom prst="rect">
            <a:avLst/>
          </a:prstGeom>
          <a:noFill/>
          <a:ln w="0">
            <a:noFill/>
            <a:prstDash val="solid"/>
          </a:ln>
        </p:spPr>
        <p:txBody>
          <a:bodyPr wrap="square" lIns="0" tIns="0" rIns="0" bIns="0" anchor="t">
            <a:normAutofit/>
          </a:bodyPr>
          <a:lstStyle>
            <a:defPPr algn="l">
              <a:defRPr sz="1800" b="1">
                <a:solidFill>
                  <a:srgbClr val="FFFFFF"/>
                </a:solidFill>
                <a:latin typeface="Arial"/>
                <a:ea typeface="Arial"/>
                <a:cs typeface="Arial"/>
              </a:defRPr>
            </a:defPPr>
          </a:lstStyle>
          <a:p>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Test a new actuator run</a:t>
            </a:r>
          </a:p>
        </p:txBody>
      </p:sp>
      <p:sp>
        <p:nvSpPr>
          <p:cNvPr id="13" name="next-detail-2">
            <a:extLst>
              <a:ext uri="{FF2B5EF4-FFF2-40B4-BE49-F238E27FC236}">
                <a16:creationId xmlns:a16="http://schemas.microsoft.com/office/drawing/2014/main" id="{6B1E1593-05CA-424B-8621-48A8B56158C8}"/>
              </a:ext>
            </a:extLst>
          </p:cNvPr>
          <p:cNvSpPr>
            <a:spLocks noGrp="1"/>
          </p:cNvSpPr>
          <p:nvPr/>
        </p:nvSpPr>
        <p:spPr>
          <a:xfrm>
            <a:off x="4857750" y="4048125"/>
            <a:ext cx="6191250" cy="495300"/>
          </a:xfrm>
          <a:prstGeom prst="rect">
            <a:avLst/>
          </a:prstGeom>
          <a:noFill/>
          <a:ln w="0">
            <a:noFill/>
            <a:prstDash val="solid"/>
          </a:ln>
        </p:spPr>
        <p:txBody>
          <a:bodyPr wrap="square" lIns="0" tIns="0" rIns="0" bIns="0" anchor="t">
            <a:normAutofit/>
          </a:bodyPr>
          <a:lstStyle>
            <a:defPPr algn="l">
              <a:defRPr sz="1425" b="0">
                <a:solidFill>
                  <a:srgbClr val="D5E2EA"/>
                </a:solidFill>
                <a:latin typeface="Arial"/>
                <a:ea typeface="Arial"/>
                <a:cs typeface="Arial"/>
              </a:defRPr>
            </a:defPPr>
          </a:lstStyle>
          <a:p>
            <a:pPr algn="l">
              <a:lnSpc>
                <a:spcPct val="105000"/>
              </a:lnSpc>
              <a:buNone/>
              <a:defRPr sz="1425" b="0">
                <a:solidFill>
                  <a:srgbClr val="D5E2EA"/>
                </a:solidFill>
                <a:latin typeface="Arial"/>
                <a:ea typeface="Arial"/>
                <a:cs typeface="Arial"/>
              </a:defRPr>
            </a:pPr>
            <a:r>
              <a:rPr sz="1425" b="0">
                <a:solidFill>
                  <a:srgbClr val="D5E2EA"/>
                </a:solidFill>
                <a:latin typeface="Arial"/>
                <a:ea typeface="Arial"/>
                <a:cs typeface="Arial"/>
              </a:rPr>
              <a:t>Compare predictions with a physical run at a pressure not used for training.</a:t>
            </a:r>
          </a:p>
        </p:txBody>
      </p:sp>
      <p:sp>
        <p:nvSpPr>
          <p:cNvPr id="14" name="next-rule-2">
            <a:extLst>
              <a:ext uri="{FF2B5EF4-FFF2-40B4-BE49-F238E27FC236}">
                <a16:creationId xmlns:a16="http://schemas.microsoft.com/office/drawing/2014/main" id="{342B92A1-2382-4E95-AF74-EC9929DFFDF3}"/>
              </a:ext>
            </a:extLst>
          </p:cNvPr>
          <p:cNvSpPr>
            <a:spLocks noGrp="1"/>
          </p:cNvSpPr>
          <p:nvPr/>
        </p:nvSpPr>
        <p:spPr>
          <a:xfrm>
            <a:off x="1619250" y="4676775"/>
            <a:ext cx="9429750" cy="0"/>
          </a:xfrm>
          <a:prstGeom prst="line">
            <a:avLst/>
          </a:prstGeom>
          <a:noFill/>
          <a:ln w="9525">
            <a:solidFill>
              <a:srgbClr val="35566D"/>
            </a:solidFill>
            <a:prstDash val="solid"/>
          </a:ln>
        </p:spPr>
      </p:sp>
      <p:sp>
        <p:nvSpPr>
          <p:cNvPr id="15" name="next-number-3">
            <a:extLst>
              <a:ext uri="{FF2B5EF4-FFF2-40B4-BE49-F238E27FC236}">
                <a16:creationId xmlns:a16="http://schemas.microsoft.com/office/drawing/2014/main" id="{3EEEA7D0-0FBC-4D06-A6B6-1D974F3832B6}"/>
              </a:ext>
            </a:extLst>
          </p:cNvPr>
          <p:cNvSpPr>
            <a:spLocks noGrp="1"/>
          </p:cNvSpPr>
          <p:nvPr/>
        </p:nvSpPr>
        <p:spPr>
          <a:xfrm>
            <a:off x="857250" y="5000625"/>
            <a:ext cx="609600" cy="400050"/>
          </a:xfrm>
          <a:prstGeom prst="rect">
            <a:avLst/>
          </a:prstGeom>
          <a:noFill/>
          <a:ln w="0">
            <a:noFill/>
            <a:prstDash val="solid"/>
          </a:ln>
        </p:spPr>
        <p:txBody>
          <a:bodyPr wrap="square" lIns="0" tIns="0" rIns="0" bIns="0" anchor="t">
            <a:normAutofit/>
          </a:bodyPr>
          <a:lstStyle>
            <a:defPPr algn="l">
              <a:defRPr sz="1875" b="1">
                <a:solidFill>
                  <a:srgbClr val="E6B85C"/>
                </a:solidFill>
                <a:latin typeface="Arial"/>
                <a:ea typeface="Arial"/>
                <a:cs typeface="Arial"/>
              </a:defRPr>
            </a:defPPr>
          </a:lstStyle>
          <a:p>
            <a:pPr algn="l">
              <a:lnSpc>
                <a:spcPct val="105000"/>
              </a:lnSpc>
              <a:buNone/>
              <a:defRPr sz="1875" b="1">
                <a:solidFill>
                  <a:srgbClr val="E6B85C"/>
                </a:solidFill>
                <a:latin typeface="Arial"/>
                <a:ea typeface="Arial"/>
                <a:cs typeface="Arial"/>
              </a:defRPr>
            </a:pPr>
            <a:r>
              <a:rPr sz="1875" b="1">
                <a:solidFill>
                  <a:srgbClr val="E6B85C"/>
                </a:solidFill>
                <a:latin typeface="Arial"/>
                <a:ea typeface="Arial"/>
                <a:cs typeface="Arial"/>
              </a:rPr>
              <a:t>04</a:t>
            </a:r>
          </a:p>
        </p:txBody>
      </p:sp>
      <p:sp>
        <p:nvSpPr>
          <p:cNvPr id="16" name="next-heading-3">
            <a:extLst>
              <a:ext uri="{FF2B5EF4-FFF2-40B4-BE49-F238E27FC236}">
                <a16:creationId xmlns:a16="http://schemas.microsoft.com/office/drawing/2014/main" id="{D0AB9433-A61A-4A6D-A7FB-BCEB7373DE56}"/>
              </a:ext>
            </a:extLst>
          </p:cNvPr>
          <p:cNvSpPr>
            <a:spLocks noGrp="1"/>
          </p:cNvSpPr>
          <p:nvPr/>
        </p:nvSpPr>
        <p:spPr>
          <a:xfrm>
            <a:off x="1619250" y="5000625"/>
            <a:ext cx="3048000" cy="342900"/>
          </a:xfrm>
          <a:prstGeom prst="rect">
            <a:avLst/>
          </a:prstGeom>
          <a:noFill/>
          <a:ln w="0">
            <a:noFill/>
            <a:prstDash val="solid"/>
          </a:ln>
        </p:spPr>
        <p:txBody>
          <a:bodyPr wrap="square" lIns="0" tIns="0" rIns="0" bIns="0" anchor="t">
            <a:normAutofit/>
          </a:bodyPr>
          <a:lstStyle>
            <a:defPPr algn="l">
              <a:defRPr sz="1800" b="1">
                <a:solidFill>
                  <a:srgbClr val="FFFFFF"/>
                </a:solidFill>
                <a:latin typeface="Arial"/>
                <a:ea typeface="Arial"/>
                <a:cs typeface="Arial"/>
              </a:defRPr>
            </a:defPPr>
          </a:lstStyle>
          <a:p>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Try inverse design</a:t>
            </a:r>
          </a:p>
        </p:txBody>
      </p:sp>
      <p:sp>
        <p:nvSpPr>
          <p:cNvPr id="17" name="next-detail-3">
            <a:extLst>
              <a:ext uri="{FF2B5EF4-FFF2-40B4-BE49-F238E27FC236}">
                <a16:creationId xmlns:a16="http://schemas.microsoft.com/office/drawing/2014/main" id="{A077E1DE-F199-45CE-9241-DD2378C6EFB8}"/>
              </a:ext>
            </a:extLst>
          </p:cNvPr>
          <p:cNvSpPr>
            <a:spLocks noGrp="1"/>
          </p:cNvSpPr>
          <p:nvPr/>
        </p:nvSpPr>
        <p:spPr>
          <a:xfrm>
            <a:off x="4857750" y="5000625"/>
            <a:ext cx="6191250" cy="495300"/>
          </a:xfrm>
          <a:prstGeom prst="rect">
            <a:avLst/>
          </a:prstGeom>
          <a:noFill/>
          <a:ln w="0">
            <a:noFill/>
            <a:prstDash val="solid"/>
          </a:ln>
        </p:spPr>
        <p:txBody>
          <a:bodyPr wrap="square" lIns="0" tIns="0" rIns="0" bIns="0" anchor="t">
            <a:normAutofit/>
          </a:bodyPr>
          <a:lstStyle>
            <a:defPPr algn="l">
              <a:defRPr sz="1425" b="0">
                <a:solidFill>
                  <a:srgbClr val="D5E2EA"/>
                </a:solidFill>
                <a:latin typeface="Arial"/>
                <a:ea typeface="Arial"/>
                <a:cs typeface="Arial"/>
              </a:defRPr>
            </a:defPPr>
          </a:lstStyle>
          <a:p>
            <a:pPr algn="l">
              <a:lnSpc>
                <a:spcPct val="105000"/>
              </a:lnSpc>
              <a:buNone/>
              <a:defRPr sz="1425" b="0">
                <a:solidFill>
                  <a:srgbClr val="D5E2EA"/>
                </a:solidFill>
                <a:latin typeface="Arial"/>
                <a:ea typeface="Arial"/>
                <a:cs typeface="Arial"/>
              </a:defRPr>
            </a:pPr>
            <a:r>
              <a:rPr sz="1425" b="0">
                <a:solidFill>
                  <a:srgbClr val="D5E2EA"/>
                </a:solidFill>
                <a:latin typeface="Arial"/>
                <a:ea typeface="Arial"/>
                <a:cs typeface="Arial"/>
              </a:rPr>
              <a:t>Use the validated model to estimate pressure for a target pulling response.</a:t>
            </a:r>
          </a:p>
        </p:txBody>
      </p:sp>
    </p:spTree>
    <p:extLst>
      <p:ext uri="{BB962C8B-B14F-4D97-AF65-F5344CB8AC3E}">
        <p14:creationId xmlns:p14="http://schemas.microsoft.com/office/powerpoint/2010/main" val="1423574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5AB032BF-A656-46A8-B1B1-2D7461219ACF}"/>
              </a:ext>
            </a:extLst>
          </p:cNvPr>
          <p:cNvSpPr>
            <a:spLocks noGrp="1"/>
          </p:cNvSpPr>
          <p:nvPr/>
        </p:nvSpPr>
        <p:spPr>
          <a:xfrm>
            <a:off x="685800" y="457200"/>
            <a:ext cx="10820400" cy="552450"/>
          </a:xfrm>
          <a:prstGeom prst="rect">
            <a:avLst/>
          </a:prstGeom>
          <a:noFill/>
          <a:ln w="0">
            <a:noFill/>
            <a:prstDash val="solid"/>
          </a:ln>
        </p:spPr>
        <p:txBody>
          <a:bodyPr wrap="square" lIns="0" tIns="0" rIns="0" bIns="0" anchor="t">
            <a:normAutofit/>
          </a:bodyPr>
          <a:lstStyle>
            <a:defPPr algn="l">
              <a:defRPr sz="3000" b="1">
                <a:solidFill>
                  <a:srgbClr val="102A43"/>
                </a:solidFill>
                <a:latin typeface="Arial"/>
                <a:ea typeface="Arial"/>
                <a:cs typeface="Arial"/>
              </a:defRPr>
            </a:defPPr>
          </a:lstStyle>
          <a:p>
            <a:pPr algn="l">
              <a:lnSpc>
                <a:spcPct val="105000"/>
              </a:lnSpc>
              <a:buNone/>
              <a:defRPr sz="3000" b="1">
                <a:solidFill>
                  <a:srgbClr val="102A43"/>
                </a:solidFill>
                <a:latin typeface="Arial"/>
                <a:ea typeface="Arial"/>
                <a:cs typeface="Arial"/>
              </a:defRPr>
            </a:pPr>
            <a:r>
              <a:rPr sz="3000" b="1">
                <a:solidFill>
                  <a:srgbClr val="102A43"/>
                </a:solidFill>
                <a:latin typeface="Arial"/>
                <a:ea typeface="Arial"/>
                <a:cs typeface="Arial"/>
              </a:rPr>
              <a:t>Sources</a:t>
            </a:r>
          </a:p>
        </p:txBody>
      </p:sp>
      <p:sp>
        <p:nvSpPr>
          <p:cNvPr id="2" name="slide-subtitle">
            <a:extLst>
              <a:ext uri="{FF2B5EF4-FFF2-40B4-BE49-F238E27FC236}">
                <a16:creationId xmlns:a16="http://schemas.microsoft.com/office/drawing/2014/main" id="{99C5D13D-9E7E-4464-95BC-0334567F2DF0}"/>
              </a:ext>
            </a:extLst>
          </p:cNvPr>
          <p:cNvSpPr>
            <a:spLocks noGrp="1"/>
          </p:cNvSpPr>
          <p:nvPr/>
        </p:nvSpPr>
        <p:spPr>
          <a:xfrm>
            <a:off x="704850" y="1047750"/>
            <a:ext cx="10477500" cy="400050"/>
          </a:xfrm>
          <a:prstGeom prst="rect">
            <a:avLst/>
          </a:prstGeom>
          <a:noFill/>
          <a:ln w="0">
            <a:noFill/>
            <a:prstDash val="solid"/>
          </a:ln>
        </p:spPr>
        <p:txBody>
          <a:bodyPr wrap="square" lIns="0" tIns="0" rIns="0" bIns="0" anchor="t">
            <a:normAutofit/>
          </a:bodyPr>
          <a:lstStyle>
            <a:defPPr algn="l">
              <a:defRPr sz="1575" b="0">
                <a:solidFill>
                  <a:srgbClr val="526777"/>
                </a:solidFill>
                <a:latin typeface="Arial"/>
                <a:ea typeface="Arial"/>
                <a:cs typeface="Arial"/>
              </a:defRPr>
            </a:defPPr>
          </a:lstStyle>
          <a:p>
            <a:pPr algn="l">
              <a:lnSpc>
                <a:spcPct val="105000"/>
              </a:lnSpc>
              <a:buNone/>
              <a:defRPr sz="1575" b="0">
                <a:solidFill>
                  <a:srgbClr val="526777"/>
                </a:solidFill>
                <a:latin typeface="Arial"/>
                <a:ea typeface="Arial"/>
                <a:cs typeface="Arial"/>
              </a:defRPr>
            </a:pPr>
            <a:r>
              <a:rPr sz="1575" b="0">
                <a:solidFill>
                  <a:srgbClr val="526777"/>
                </a:solidFill>
                <a:latin typeface="Arial"/>
                <a:ea typeface="Arial"/>
                <a:cs typeface="Arial"/>
              </a:rPr>
              <a:t>Dataset and experiment used in this project</a:t>
            </a:r>
          </a:p>
        </p:txBody>
      </p:sp>
      <p:sp>
        <p:nvSpPr>
          <p:cNvPr id="3" name="title-rule">
            <a:extLst>
              <a:ext uri="{FF2B5EF4-FFF2-40B4-BE49-F238E27FC236}">
                <a16:creationId xmlns:a16="http://schemas.microsoft.com/office/drawing/2014/main" id="{1050B408-6BDA-4487-B8EB-1A866A2B5F68}"/>
              </a:ext>
            </a:extLst>
          </p:cNvPr>
          <p:cNvSpPr>
            <a:spLocks noGrp="1"/>
          </p:cNvSpPr>
          <p:nvPr/>
        </p:nvSpPr>
        <p:spPr>
          <a:xfrm>
            <a:off x="685800" y="1543050"/>
            <a:ext cx="704850" cy="47625"/>
          </a:xfrm>
          <a:prstGeom prst="rect">
            <a:avLst/>
          </a:prstGeom>
          <a:solidFill>
            <a:srgbClr val="EF8354"/>
          </a:solidFill>
          <a:ln w="0">
            <a:noFill/>
            <a:prstDash val="solid"/>
          </a:ln>
        </p:spPr>
      </p:sp>
      <p:sp>
        <p:nvSpPr>
          <p:cNvPr id="4" name="ref-1-num">
            <a:extLst>
              <a:ext uri="{FF2B5EF4-FFF2-40B4-BE49-F238E27FC236}">
                <a16:creationId xmlns:a16="http://schemas.microsoft.com/office/drawing/2014/main" id="{55F41C91-3AE1-4545-8188-E10E07E9295A}"/>
              </a:ext>
            </a:extLst>
          </p:cNvPr>
          <p:cNvSpPr>
            <a:spLocks noGrp="1"/>
          </p:cNvSpPr>
          <p:nvPr/>
        </p:nvSpPr>
        <p:spPr>
          <a:xfrm>
            <a:off x="876300" y="2238375"/>
            <a:ext cx="361950" cy="304800"/>
          </a:xfrm>
          <a:prstGeom prst="rect">
            <a:avLst/>
          </a:prstGeom>
          <a:noFill/>
          <a:ln w="0">
            <a:noFill/>
            <a:prstDash val="solid"/>
          </a:ln>
        </p:spPr>
        <p:txBody>
          <a:bodyPr wrap="square" lIns="0" tIns="0" rIns="0" bIns="0" anchor="t">
            <a:normAutofit/>
          </a:bodyPr>
          <a:lstStyle>
            <a:defPPr algn="l">
              <a:defRPr sz="1650" b="1">
                <a:solidFill>
                  <a:srgbClr val="EF8354"/>
                </a:solidFill>
                <a:latin typeface="Arial"/>
                <a:ea typeface="Arial"/>
                <a:cs typeface="Arial"/>
              </a:defRPr>
            </a:defPPr>
          </a:lstStyle>
          <a:p>
            <a:pPr algn="l">
              <a:lnSpc>
                <a:spcPct val="105000"/>
              </a:lnSpc>
              <a:buNone/>
              <a:defRPr sz="1650" b="1">
                <a:solidFill>
                  <a:srgbClr val="EF8354"/>
                </a:solidFill>
                <a:latin typeface="Arial"/>
                <a:ea typeface="Arial"/>
                <a:cs typeface="Arial"/>
              </a:defRPr>
            </a:pPr>
            <a:r>
              <a:rPr sz="1650" b="1">
                <a:solidFill>
                  <a:srgbClr val="EF8354"/>
                </a:solidFill>
                <a:latin typeface="Arial"/>
                <a:ea typeface="Arial"/>
                <a:cs typeface="Arial"/>
              </a:rPr>
              <a:t>1</a:t>
            </a:r>
          </a:p>
        </p:txBody>
      </p:sp>
      <p:sp>
        <p:nvSpPr>
          <p:cNvPr id="5" name="ref-1">
            <a:extLst>
              <a:ext uri="{FF2B5EF4-FFF2-40B4-BE49-F238E27FC236}">
                <a16:creationId xmlns:a16="http://schemas.microsoft.com/office/drawing/2014/main" id="{5CF12C5D-7890-4C71-A057-CD19A361E038}"/>
              </a:ext>
            </a:extLst>
          </p:cNvPr>
          <p:cNvSpPr>
            <a:spLocks noGrp="1"/>
          </p:cNvSpPr>
          <p:nvPr/>
        </p:nvSpPr>
        <p:spPr>
          <a:xfrm>
            <a:off x="1381125" y="2171700"/>
            <a:ext cx="9810750" cy="704850"/>
          </a:xfrm>
          <a:prstGeom prst="rect">
            <a:avLst/>
          </a:prstGeom>
          <a:noFill/>
          <a:ln w="0">
            <a:noFill/>
            <a:prstDash val="solid"/>
          </a:ln>
        </p:spPr>
        <p:txBody>
          <a:bodyPr wrap="square" lIns="0" tIns="0" rIns="0" bIns="0" anchor="t">
            <a:normAutofit/>
          </a:bodyPr>
          <a:lstStyle>
            <a:defPPr algn="l">
              <a:defRPr sz="1575" b="0">
                <a:solidFill>
                  <a:srgbClr val="243B53"/>
                </a:solidFill>
                <a:latin typeface="Arial"/>
                <a:ea typeface="Arial"/>
                <a:cs typeface="Arial"/>
              </a:defRPr>
            </a:defPPr>
          </a:lstStyle>
          <a:p>
            <a:pPr algn="l">
              <a:lnSpc>
                <a:spcPct val="105000"/>
              </a:lnSpc>
              <a:buNone/>
              <a:defRPr sz="1575" b="0">
                <a:solidFill>
                  <a:srgbClr val="243B53"/>
                </a:solidFill>
                <a:latin typeface="Arial"/>
                <a:ea typeface="Arial"/>
                <a:cs typeface="Arial"/>
              </a:defRPr>
            </a:pPr>
            <a:r>
              <a:rPr sz="1575" b="0">
                <a:solidFill>
                  <a:srgbClr val="243B53"/>
                </a:solidFill>
                <a:latin typeface="Arial"/>
                <a:ea typeface="Arial"/>
                <a:cs typeface="Arial"/>
              </a:rPr>
              <a:t>Joshi, S. &amp; Paik, J. (2019). Multi-DoF Force Characterization of Soft Actuators. IEEE Robotics and Automation Letters, 4(4), 3679–3686.</a:t>
            </a:r>
          </a:p>
        </p:txBody>
      </p:sp>
      <p:sp>
        <p:nvSpPr>
          <p:cNvPr id="6" name="ref-1-doi">
            <a:extLst>
              <a:ext uri="{FF2B5EF4-FFF2-40B4-BE49-F238E27FC236}">
                <a16:creationId xmlns:a16="http://schemas.microsoft.com/office/drawing/2014/main" id="{11E763E1-1211-494D-8C95-D5905981F2C5}"/>
              </a:ext>
            </a:extLst>
          </p:cNvPr>
          <p:cNvSpPr>
            <a:spLocks noGrp="1"/>
          </p:cNvSpPr>
          <p:nvPr/>
        </p:nvSpPr>
        <p:spPr>
          <a:xfrm>
            <a:off x="1381125" y="2914650"/>
            <a:ext cx="9525000" cy="285750"/>
          </a:xfrm>
          <a:prstGeom prst="rect">
            <a:avLst/>
          </a:prstGeom>
          <a:noFill/>
          <a:ln w="0">
            <a:noFill/>
            <a:prstDash val="solid"/>
          </a:ln>
        </p:spPr>
        <p:txBody>
          <a:bodyPr wrap="square" lIns="0" tIns="0" rIns="0" bIns="0" anchor="t">
            <a:normAutofit/>
          </a:bodyPr>
          <a:lstStyle>
            <a:defPPr algn="l">
              <a:defRPr sz="1275" b="0">
                <a:solidFill>
                  <a:srgbClr val="168E92"/>
                </a:solidFill>
                <a:latin typeface="Arial"/>
                <a:ea typeface="Arial"/>
                <a:cs typeface="Arial"/>
              </a:defRPr>
            </a:defPPr>
          </a:lstStyle>
          <a:p>
            <a:pPr algn="l">
              <a:lnSpc>
                <a:spcPct val="105000"/>
              </a:lnSpc>
              <a:buNone/>
              <a:defRPr sz="1275" b="0">
                <a:solidFill>
                  <a:srgbClr val="168E92"/>
                </a:solidFill>
                <a:latin typeface="Arial"/>
                <a:ea typeface="Arial"/>
                <a:cs typeface="Arial"/>
              </a:defRPr>
            </a:pPr>
            <a:r>
              <a:rPr sz="1275" b="0">
                <a:solidFill>
                  <a:srgbClr val="168E92"/>
                </a:solidFill>
                <a:latin typeface="Arial"/>
                <a:ea typeface="Arial"/>
                <a:cs typeface="Arial"/>
              </a:rPr>
              <a:t>DOI: 10.1109/LRA.2019.2927936</a:t>
            </a:r>
          </a:p>
        </p:txBody>
      </p:sp>
      <p:sp>
        <p:nvSpPr>
          <p:cNvPr id="7" name="ref-2-num">
            <a:extLst>
              <a:ext uri="{FF2B5EF4-FFF2-40B4-BE49-F238E27FC236}">
                <a16:creationId xmlns:a16="http://schemas.microsoft.com/office/drawing/2014/main" id="{77BDDF41-5A26-40D4-8A9B-D5A68435DC8B}"/>
              </a:ext>
            </a:extLst>
          </p:cNvPr>
          <p:cNvSpPr>
            <a:spLocks noGrp="1"/>
          </p:cNvSpPr>
          <p:nvPr/>
        </p:nvSpPr>
        <p:spPr>
          <a:xfrm>
            <a:off x="876300" y="3733800"/>
            <a:ext cx="361950" cy="304800"/>
          </a:xfrm>
          <a:prstGeom prst="rect">
            <a:avLst/>
          </a:prstGeom>
          <a:noFill/>
          <a:ln w="0">
            <a:noFill/>
            <a:prstDash val="solid"/>
          </a:ln>
        </p:spPr>
        <p:txBody>
          <a:bodyPr wrap="square" lIns="0" tIns="0" rIns="0" bIns="0" anchor="t">
            <a:normAutofit/>
          </a:bodyPr>
          <a:lstStyle>
            <a:defPPr algn="l">
              <a:defRPr sz="1650" b="1">
                <a:solidFill>
                  <a:srgbClr val="EF8354"/>
                </a:solidFill>
                <a:latin typeface="Arial"/>
                <a:ea typeface="Arial"/>
                <a:cs typeface="Arial"/>
              </a:defRPr>
            </a:defPPr>
          </a:lstStyle>
          <a:p>
            <a:pPr algn="l">
              <a:lnSpc>
                <a:spcPct val="105000"/>
              </a:lnSpc>
              <a:buNone/>
              <a:defRPr sz="1650" b="1">
                <a:solidFill>
                  <a:srgbClr val="EF8354"/>
                </a:solidFill>
                <a:latin typeface="Arial"/>
                <a:ea typeface="Arial"/>
                <a:cs typeface="Arial"/>
              </a:defRPr>
            </a:pPr>
            <a:r>
              <a:rPr sz="1650" b="1">
                <a:solidFill>
                  <a:srgbClr val="EF8354"/>
                </a:solidFill>
                <a:latin typeface="Arial"/>
                <a:ea typeface="Arial"/>
                <a:cs typeface="Arial"/>
              </a:rPr>
              <a:t>2</a:t>
            </a:r>
          </a:p>
        </p:txBody>
      </p:sp>
      <p:sp>
        <p:nvSpPr>
          <p:cNvPr id="8" name="ref-2">
            <a:extLst>
              <a:ext uri="{FF2B5EF4-FFF2-40B4-BE49-F238E27FC236}">
                <a16:creationId xmlns:a16="http://schemas.microsoft.com/office/drawing/2014/main" id="{9E2BD343-EE28-41B4-98DB-F18170A4153F}"/>
              </a:ext>
            </a:extLst>
          </p:cNvPr>
          <p:cNvSpPr>
            <a:spLocks noGrp="1"/>
          </p:cNvSpPr>
          <p:nvPr/>
        </p:nvSpPr>
        <p:spPr>
          <a:xfrm>
            <a:off x="1381125" y="3667125"/>
            <a:ext cx="9810750" cy="666750"/>
          </a:xfrm>
          <a:prstGeom prst="rect">
            <a:avLst/>
          </a:prstGeom>
          <a:noFill/>
          <a:ln w="0">
            <a:noFill/>
            <a:prstDash val="solid"/>
          </a:ln>
        </p:spPr>
        <p:txBody>
          <a:bodyPr wrap="square" lIns="0" tIns="0" rIns="0" bIns="0" anchor="t">
            <a:normAutofit/>
          </a:bodyPr>
          <a:lstStyle>
            <a:defPPr algn="l">
              <a:defRPr sz="1575" b="0">
                <a:solidFill>
                  <a:srgbClr val="243B53"/>
                </a:solidFill>
                <a:latin typeface="Arial"/>
                <a:ea typeface="Arial"/>
                <a:cs typeface="Arial"/>
              </a:defRPr>
            </a:defPPr>
          </a:lstStyle>
          <a:p>
            <a:pPr algn="l">
              <a:lnSpc>
                <a:spcPct val="105000"/>
              </a:lnSpc>
              <a:buNone/>
              <a:defRPr sz="1575" b="0">
                <a:solidFill>
                  <a:srgbClr val="243B53"/>
                </a:solidFill>
                <a:latin typeface="Arial"/>
                <a:ea typeface="Arial"/>
                <a:cs typeface="Arial"/>
              </a:defRPr>
            </a:pPr>
            <a:r>
              <a:rPr sz="1575" b="0">
                <a:solidFill>
                  <a:srgbClr val="243B53"/>
                </a:solidFill>
                <a:latin typeface="Arial"/>
                <a:ea typeface="Arial"/>
                <a:cs typeface="Arial"/>
              </a:rPr>
              <a:t>Joshi, S. &amp; Paik, J. Dataset for “Multi-DoF Force Characterization of Soft Actuators.” Zenodo (2020).</a:t>
            </a:r>
          </a:p>
        </p:txBody>
      </p:sp>
      <p:sp>
        <p:nvSpPr>
          <p:cNvPr id="9" name="ref-2-doi">
            <a:extLst>
              <a:ext uri="{FF2B5EF4-FFF2-40B4-BE49-F238E27FC236}">
                <a16:creationId xmlns:a16="http://schemas.microsoft.com/office/drawing/2014/main" id="{CF168BFD-7575-4891-BD6C-03A196B0054E}"/>
              </a:ext>
            </a:extLst>
          </p:cNvPr>
          <p:cNvSpPr>
            <a:spLocks noGrp="1"/>
          </p:cNvSpPr>
          <p:nvPr/>
        </p:nvSpPr>
        <p:spPr>
          <a:xfrm>
            <a:off x="1381125" y="4400550"/>
            <a:ext cx="9715500" cy="323850"/>
          </a:xfrm>
          <a:prstGeom prst="rect">
            <a:avLst/>
          </a:prstGeom>
          <a:noFill/>
          <a:ln w="0">
            <a:noFill/>
            <a:prstDash val="solid"/>
          </a:ln>
        </p:spPr>
        <p:txBody>
          <a:bodyPr wrap="square" lIns="0" tIns="0" rIns="0" bIns="0" anchor="t">
            <a:normAutofit/>
          </a:bodyPr>
          <a:lstStyle>
            <a:defPPr algn="l">
              <a:defRPr sz="1275" b="0">
                <a:solidFill>
                  <a:srgbClr val="168E92"/>
                </a:solidFill>
                <a:latin typeface="Arial"/>
                <a:ea typeface="Arial"/>
                <a:cs typeface="Arial"/>
              </a:defRPr>
            </a:defPPr>
          </a:lstStyle>
          <a:p>
            <a:pPr algn="l">
              <a:lnSpc>
                <a:spcPct val="105000"/>
              </a:lnSpc>
              <a:buNone/>
              <a:defRPr sz="1275" b="0">
                <a:solidFill>
                  <a:srgbClr val="168E92"/>
                </a:solidFill>
                <a:latin typeface="Arial"/>
                <a:ea typeface="Arial"/>
                <a:cs typeface="Arial"/>
              </a:defRPr>
            </a:pPr>
            <a:r>
              <a:rPr sz="1275" b="0">
                <a:solidFill>
                  <a:srgbClr val="168E92"/>
                </a:solidFill>
                <a:latin typeface="Arial"/>
                <a:ea typeface="Arial"/>
                <a:cs typeface="Arial"/>
              </a:rPr>
              <a:t>DOI: 10.5281/zenodo.3627901  ·  https://zenodo.org/records/3627901</a:t>
            </a:r>
          </a:p>
        </p:txBody>
      </p:sp>
      <p:sp>
        <p:nvSpPr>
          <p:cNvPr id="10" name="ref-method-note">
            <a:extLst>
              <a:ext uri="{FF2B5EF4-FFF2-40B4-BE49-F238E27FC236}">
                <a16:creationId xmlns:a16="http://schemas.microsoft.com/office/drawing/2014/main" id="{A4B3C3C6-9C76-4E52-A4F1-F0B94CF10748}"/>
              </a:ext>
            </a:extLst>
          </p:cNvPr>
          <p:cNvSpPr>
            <a:spLocks noGrp="1"/>
          </p:cNvSpPr>
          <p:nvPr/>
        </p:nvSpPr>
        <p:spPr>
          <a:xfrm>
            <a:off x="1390650" y="5295900"/>
            <a:ext cx="9429750" cy="590550"/>
          </a:xfrm>
          <a:prstGeom prst="roundRect">
            <a:avLst>
              <a:gd name="adj" fmla="val 12903"/>
            </a:avLst>
          </a:prstGeom>
          <a:solidFill>
            <a:srgbClr val="FFFFFF"/>
          </a:solidFill>
          <a:ln w="9525">
            <a:solidFill>
              <a:srgbClr val="D4DEE3"/>
            </a:solidFill>
            <a:prstDash val="solid"/>
          </a:ln>
        </p:spPr>
      </p:sp>
      <p:sp>
        <p:nvSpPr>
          <p:cNvPr id="11" name="ref-method-note-text">
            <a:extLst>
              <a:ext uri="{FF2B5EF4-FFF2-40B4-BE49-F238E27FC236}">
                <a16:creationId xmlns:a16="http://schemas.microsoft.com/office/drawing/2014/main" id="{0F431B14-0852-4B28-9F08-0F28A2ED84CD}"/>
              </a:ext>
            </a:extLst>
          </p:cNvPr>
          <p:cNvSpPr>
            <a:spLocks noGrp="1"/>
          </p:cNvSpPr>
          <p:nvPr/>
        </p:nvSpPr>
        <p:spPr>
          <a:xfrm>
            <a:off x="1619250" y="5429250"/>
            <a:ext cx="8953500" cy="323850"/>
          </a:xfrm>
          <a:prstGeom prst="rect">
            <a:avLst/>
          </a:prstGeom>
          <a:noFill/>
          <a:ln w="0">
            <a:noFill/>
            <a:prstDash val="solid"/>
          </a:ln>
        </p:spPr>
        <p:txBody>
          <a:bodyPr wrap="square" lIns="0" tIns="0" rIns="0" bIns="0" anchor="ctr">
            <a:normAutofit fontScale="85991"/>
          </a:bodyPr>
          <a:lstStyle>
            <a:defPPr algn="ctr">
              <a:defRPr sz="1275" b="0">
                <a:solidFill>
                  <a:srgbClr val="526777"/>
                </a:solidFill>
                <a:latin typeface="Arial"/>
                <a:ea typeface="Arial"/>
                <a:cs typeface="Arial"/>
              </a:defRPr>
            </a:defPPr>
          </a:lstStyle>
          <a:p>
            <a:pPr algn="ctr">
              <a:lnSpc>
                <a:spcPct val="105000"/>
              </a:lnSpc>
              <a:buNone/>
              <a:defRPr sz="1275" b="0">
                <a:solidFill>
                  <a:srgbClr val="526777"/>
                </a:solidFill>
                <a:latin typeface="Arial"/>
                <a:ea typeface="Arial"/>
                <a:cs typeface="Arial"/>
              </a:defRPr>
            </a:pPr>
            <a:r>
              <a:rPr sz="1275" b="0">
                <a:solidFill>
                  <a:srgbClr val="526777"/>
                </a:solidFill>
                <a:latin typeface="Arial"/>
                <a:ea typeface="Arial"/>
                <a:cs typeface="Arial"/>
              </a:rPr>
              <a:t>Model metrics are calculated from the downloaded pulling-force subset; sensor targets are reported in raw counts pending calibration.</a:t>
            </a:r>
          </a:p>
        </p:txBody>
      </p:sp>
    </p:spTree>
    <p:extLst>
      <p:ext uri="{BB962C8B-B14F-4D97-AF65-F5344CB8AC3E}">
        <p14:creationId xmlns:p14="http://schemas.microsoft.com/office/powerpoint/2010/main" val="40147049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1334</Words>
  <Application>Microsoft Office PowerPoint</Application>
  <DocSecurity>0</DocSecurity>
  <PresentationFormat>Widescreen</PresentationFormat>
  <Paragraphs>116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Hare Haran</cp:lastModifiedBy>
  <cp:revision>1</cp:revision>
  <dcterms:created xsi:type="dcterms:W3CDTF">2026-10-09T18:45:59Z</dcterms:created>
  <dcterms:modified xsi:type="dcterms:W3CDTF">2026-10-10T16:46:59Z</dcterms:modified>
</cp:coreProperties>
</file>